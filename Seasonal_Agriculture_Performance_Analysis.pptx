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Pulkit Chopra from Maharaja Agrasen Institute of Management Studies. My major project analyses how agricultural performance changes across India's three cropping seasons, using a dataset of 4,000 farms across eight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raw agricultural data doesn't explain HOW performance changes across seasons. I framed six analytical questions to structure the investigation, rather than running a generic analysis of the whole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follows four stages. The key point is that this is a focused investigation of seasonal difference — not a generic descriptive analysis. Every step was chosen to answer the six questions on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user groups. The primary audience is farmers and cooperatives, because the strongest finding — that irrigation method should change by season — is a decision they make directly and can act on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Python data-analytics stack. I want to highlight the statistical testing — I didn't just compare averages, I tested whether the differences were significant. That turned out to matter enormously, as the next slides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I confirmed the seasons genuinely differ before attributing anything to them. Kharif is the monsoon, Rabi the cool winter, Zaid the hot dry summer. All differences significant at p below 0.001.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methodological finding. If I had stopped at the pooled average, I would have concluded season doesn't affect yield — which is wrong. One outlier crop, slightly over-represented in Zaid, cancelled out a real decline happening everywhere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crop is held constant the pattern is unambiguous. Every crop peaks in Kharif and bottoms in Zaid. Each bar group is indexed to its own Kharif yield so all eight crops fit on one comparable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Yield falls by around 30 percent, but profit swings from strongly positive to negative. Profit is far more sensitive than yield, because costs don't fall with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mechanism. I checked whether the revenue drop came from prices or volumes. Prices barely move — under three and a half percent for every crop. So it's purely volume: the yield decline flowing straight to the bottom line, against a cost base that doesn't shrink.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actionable finding. Farmers pick their irrigation method the same way regardless of season — the chi-square p-value of 0.74 confirms it. But the consequences are completely season-dependent. In Kharif every method works. In Zaid, Flood and Rainfed swing to heavy losses.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supporting results. On the left, the trade-off: the monsoon moisture that drives Kharif yields also breeds pests. On the right, the pattern holds across seven of eight states, so it's structural. Punjab is the interesting exception — heavily irrigated, wheat-centred Rabi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conclusions. If I had to pick one, it's number three — the pooled view is misleading. That finding changed the entire analysis and is the reason the others could be found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Recommendations split by audience. The drip-irrigation point is the one I'd emphasise — it's a change farmers can make immediately, and the data attaches a rupee value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directions. The one I'd pursue first is the predictive model — it converts this from a description of what happened into a tool that tells a farmer what to expect before they sow.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notebook is on GitHub, so every figure and statistic in this deck can be reproduced from the raw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PULKIT — replace this placeholder box with a screenshot of your VOIS Data Visualization certificate before submitting.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take questions on the method or the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1C"/>
        </a:solidFill>
      </p:bgPr>
    </p:bg>
    <p:spTree>
      <p:nvGrpSpPr>
        <p:cNvPr id="1" name=""/>
        <p:cNvGrpSpPr/>
        <p:nvPr/>
      </p:nvGrpSpPr>
      <p:grpSpPr>
        <a:xfrm>
          <a:off x="0" y="0"/>
          <a:ext cx="0" cy="0"/>
          <a:chOff x="0" y="0"/>
          <a:chExt cx="0" cy="0"/>
        </a:xfrm>
      </p:grpSpPr>
      <p:sp>
        <p:nvSpPr>
          <p:cNvPr id="2" name="Text 0"/>
          <p:cNvSpPr txBox="1"/>
          <p:nvPr/>
        </p:nvSpPr>
        <p:spPr>
          <a:xfrm>
            <a:off x="868680" y="1234440"/>
            <a:ext cx="10058400" cy="274320"/>
          </a:xfrm>
          <a:prstGeom prst="rect">
            <a:avLst/>
          </a:prstGeom>
          <a:noFill/>
          <a:ln/>
        </p:spPr>
        <p:txBody>
          <a:bodyPr wrap="square" lIns="0" tIns="0" rIns="0" bIns="0" rtlCol="0" anchor="ctr"/>
          <a:lstStyle/>
          <a:p>
            <a:pPr indent="0" marL="0">
              <a:buNone/>
            </a:pPr>
            <a:r>
              <a:rPr lang="en-US" sz="1200" b="1" spc="250" kern="0" dirty="0">
                <a:solidFill>
                  <a:srgbClr val="97BC62"/>
                </a:solidFill>
                <a:latin typeface="Calibri" pitchFamily="34" charset="0"/>
                <a:ea typeface="Calibri" pitchFamily="34" charset="-122"/>
                <a:cs typeface="Calibri" pitchFamily="34" charset="-120"/>
              </a:rPr>
              <a:t>VOIS AICTE · BATCH 1 · 2026-2027 · MAJOR PROJECT</a:t>
            </a:r>
            <a:endParaRPr lang="en-US" sz="1200" dirty="0"/>
          </a:p>
        </p:txBody>
      </p:sp>
      <p:sp>
        <p:nvSpPr>
          <p:cNvPr id="3" name="Text 1"/>
          <p:cNvSpPr txBox="1"/>
          <p:nvPr/>
        </p:nvSpPr>
        <p:spPr>
          <a:xfrm>
            <a:off x="868680" y="1783080"/>
            <a:ext cx="10058400" cy="1828800"/>
          </a:xfrm>
          <a:prstGeom prst="rect">
            <a:avLst/>
          </a:prstGeom>
          <a:noFill/>
          <a:ln/>
        </p:spPr>
        <p:txBody>
          <a:bodyPr wrap="square" lIns="0" tIns="0" rIns="0" bIns="0" rtlCol="0" anchor="ctr"/>
          <a:lstStyle/>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Seasonal Agriculture</a:t>
            </a:r>
            <a:endParaRPr lang="en-US" sz="5000" dirty="0"/>
          </a:p>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Performance Analysis</a:t>
            </a:r>
            <a:endParaRPr lang="en-US" sz="5000" dirty="0"/>
          </a:p>
        </p:txBody>
      </p:sp>
      <p:sp>
        <p:nvSpPr>
          <p:cNvPr id="4" name="Text 2"/>
          <p:cNvSpPr txBox="1"/>
          <p:nvPr/>
        </p:nvSpPr>
        <p:spPr>
          <a:xfrm>
            <a:off x="868680" y="3703320"/>
            <a:ext cx="7680960" cy="685800"/>
          </a:xfrm>
          <a:prstGeom prst="rect">
            <a:avLst/>
          </a:prstGeom>
          <a:noFill/>
          <a:ln/>
        </p:spPr>
        <p:txBody>
          <a:bodyPr wrap="square" lIns="0" tIns="0" rIns="0" bIns="0" rtlCol="0" anchor="ctr"/>
          <a:lstStyle/>
          <a:p>
            <a:pPr indent="0" marL="0">
              <a:lnSpc>
                <a:spcPts val="2200"/>
              </a:lnSpc>
              <a:buNone/>
            </a:pPr>
            <a:r>
              <a:rPr lang="en-US" sz="1500" dirty="0">
                <a:solidFill>
                  <a:srgbClr val="C9D6C2"/>
                </a:solidFill>
                <a:latin typeface="Calibri" pitchFamily="34" charset="0"/>
                <a:ea typeface="Calibri" pitchFamily="34" charset="-122"/>
                <a:cs typeface="Calibri" pitchFamily="34" charset="-120"/>
              </a:rPr>
              <a:t>Investigating how agricultural performance shifts across Kharif, Rabi and Zaid — using 4,000 farm records from eight Indian states.</a:t>
            </a:r>
            <a:endParaRPr lang="en-US" sz="1500" dirty="0"/>
          </a:p>
        </p:txBody>
      </p:sp>
      <p:sp>
        <p:nvSpPr>
          <p:cNvPr id="5" name="Shape 3"/>
          <p:cNvSpPr/>
          <p:nvPr/>
        </p:nvSpPr>
        <p:spPr>
          <a:xfrm>
            <a:off x="868680" y="4617720"/>
            <a:ext cx="2926080" cy="0"/>
          </a:xfrm>
          <a:prstGeom prst="line">
            <a:avLst/>
          </a:prstGeom>
          <a:noFill/>
          <a:ln w="25400">
            <a:solidFill>
              <a:srgbClr val="97BC62"/>
            </a:solidFill>
            <a:prstDash val="solid"/>
          </a:ln>
        </p:spPr>
      </p:sp>
      <p:sp>
        <p:nvSpPr>
          <p:cNvPr id="6" name="Text 4"/>
          <p:cNvSpPr txBox="1"/>
          <p:nvPr/>
        </p:nvSpPr>
        <p:spPr>
          <a:xfrm>
            <a:off x="868680" y="4892040"/>
            <a:ext cx="8229600" cy="1188720"/>
          </a:xfrm>
          <a:prstGeom prst="rect">
            <a:avLst/>
          </a:prstGeom>
          <a:noFill/>
          <a:ln/>
        </p:spPr>
        <p:txBody>
          <a:bodyPr wrap="square" lIns="0" tIns="0" rIns="0" bIns="0" rtlCol="0" anchor="ctr"/>
          <a:lstStyle/>
          <a:p>
            <a:pPr indent="0" marL="0">
              <a:lnSpc>
                <a:spcPts val="2100"/>
              </a:lnSpc>
              <a:buNone/>
            </a:pPr>
            <a:r>
              <a:rPr lang="en-US" sz="1700" b="1" dirty="0">
                <a:solidFill>
                  <a:srgbClr val="FFFFFF"/>
                </a:solidFill>
                <a:latin typeface="Calibri" pitchFamily="34" charset="0"/>
                <a:ea typeface="Calibri" pitchFamily="34" charset="-122"/>
                <a:cs typeface="Calibri" pitchFamily="34" charset="-120"/>
              </a:rPr>
              <a:t>Pulkit Chopra</a:t>
            </a:r>
            <a:endParaRPr lang="en-US" sz="1700" dirty="0"/>
          </a:p>
          <a:p>
            <a:pPr indent="0" marL="0">
              <a:lnSpc>
                <a:spcPts val="2100"/>
              </a:lnSpc>
              <a:buNone/>
            </a:pPr>
            <a:r>
              <a:rPr lang="en-US" sz="1300" dirty="0">
                <a:solidFill>
                  <a:srgbClr val="C9D6C2"/>
                </a:solidFill>
                <a:latin typeface="Calibri" pitchFamily="34" charset="0"/>
                <a:ea typeface="Calibri" pitchFamily="34" charset="-122"/>
                <a:cs typeface="Calibri" pitchFamily="34" charset="-120"/>
              </a:rPr>
              <a:t>Maharaja Agrasen Institute of Management Studies</a:t>
            </a:r>
            <a:endParaRPr lang="en-US" sz="1700" dirty="0"/>
          </a:p>
          <a:p>
            <a:pPr indent="0" marL="0">
              <a:lnSpc>
                <a:spcPts val="2100"/>
              </a:lnSpc>
              <a:buNone/>
            </a:pPr>
            <a:r>
              <a:rPr lang="en-US" sz="1300" dirty="0">
                <a:solidFill>
                  <a:srgbClr val="C9D6C2"/>
                </a:solidFill>
                <a:latin typeface="Calibri" pitchFamily="34" charset="0"/>
                <a:ea typeface="Calibri" pitchFamily="34" charset="-122"/>
                <a:cs typeface="Calibri" pitchFamily="34" charset="-120"/>
              </a:rPr>
              <a:t>AICTE Student ID:  STU6a0fa9ea7ddf11779411434</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9260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THE CHALLENGE</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200" b="1" dirty="0">
                <a:solidFill>
                  <a:srgbClr val="1B3A1C"/>
                </a:solidFill>
                <a:latin typeface="Cambria" pitchFamily="34" charset="0"/>
                <a:ea typeface="Cambria" pitchFamily="34" charset="-122"/>
                <a:cs typeface="Cambria" pitchFamily="34" charset="-120"/>
              </a:rPr>
              <a:t>Problem Statement</a:t>
            </a:r>
            <a:endParaRPr lang="en-US" sz="3200" dirty="0"/>
          </a:p>
        </p:txBody>
      </p:sp>
      <p:sp>
        <p:nvSpPr>
          <p:cNvPr id="4" name="Shape 2"/>
          <p:cNvSpPr/>
          <p:nvPr/>
        </p:nvSpPr>
        <p:spPr>
          <a:xfrm>
            <a:off x="548640" y="1417320"/>
            <a:ext cx="6858000" cy="2240280"/>
          </a:xfrm>
          <a:prstGeom prst="roundRect">
            <a:avLst>
              <a:gd name="adj" fmla="val 3265"/>
            </a:avLst>
          </a:prstGeom>
          <a:solidFill>
            <a:srgbClr val="F4F6F0"/>
          </a:solidFill>
          <a:ln w="12700">
            <a:solidFill>
              <a:srgbClr val="E2E7DC"/>
            </a:solidFill>
            <a:prstDash val="solid"/>
          </a:ln>
        </p:spPr>
      </p:sp>
      <p:sp>
        <p:nvSpPr>
          <p:cNvPr id="5" name="Text 3"/>
          <p:cNvSpPr txBox="1"/>
          <p:nvPr/>
        </p:nvSpPr>
        <p:spPr>
          <a:xfrm>
            <a:off x="868680" y="1691640"/>
            <a:ext cx="6263640" cy="1737360"/>
          </a:xfrm>
          <a:prstGeom prst="rect">
            <a:avLst/>
          </a:prstGeom>
          <a:noFill/>
          <a:ln/>
        </p:spPr>
        <p:txBody>
          <a:bodyPr wrap="square" lIns="0" tIns="0" rIns="0" bIns="0" rtlCol="0" anchor="ctr"/>
          <a:lstStyle/>
          <a:p>
            <a:pPr indent="0" marL="0">
              <a:lnSpc>
                <a:spcPts val="1900"/>
              </a:lnSpc>
              <a:buNone/>
            </a:pPr>
            <a:r>
              <a:rPr lang="en-US" sz="1350" dirty="0">
                <a:solidFill>
                  <a:srgbClr val="22301F"/>
                </a:solidFill>
                <a:latin typeface="Calibri" pitchFamily="34" charset="0"/>
                <a:ea typeface="Calibri" pitchFamily="34" charset="-122"/>
                <a:cs typeface="Calibri" pitchFamily="34" charset="-120"/>
              </a:rPr>
              <a:t>Agricultural activities are influenced by seasonal variations in environmental conditions, farming practices, resource availability and market conditions. As a result, agricultural performance may differ from one season to another.</a:t>
            </a:r>
            <a:endParaRPr lang="en-US" sz="1350" dirty="0"/>
          </a:p>
          <a:p>
            <a:pPr indent="0" marL="0">
              <a:lnSpc>
                <a:spcPts val="1900"/>
              </a:lnSpc>
              <a:buNone/>
            </a:pPr>
            <a:endParaRPr lang="en-US" sz="1350" dirty="0"/>
          </a:p>
          <a:p>
            <a:pPr indent="0" marL="0">
              <a:lnSpc>
                <a:spcPts val="1900"/>
              </a:lnSpc>
              <a:buNone/>
            </a:pPr>
            <a:r>
              <a:rPr lang="en-US" sz="1350" dirty="0">
                <a:solidFill>
                  <a:srgbClr val="22301F"/>
                </a:solidFill>
                <a:latin typeface="Calibri" pitchFamily="34" charset="0"/>
                <a:ea typeface="Calibri" pitchFamily="34" charset="-122"/>
                <a:cs typeface="Calibri" pitchFamily="34" charset="-120"/>
              </a:rPr>
              <a:t>However, raw agricultural data does not clearly explain how performance changes across seasons, or what patterns can be observed under different seasonal conditions.</a:t>
            </a:r>
            <a:endParaRPr lang="en-US" sz="1350" dirty="0"/>
          </a:p>
        </p:txBody>
      </p:sp>
      <p:sp>
        <p:nvSpPr>
          <p:cNvPr id="6" name="Shape 4"/>
          <p:cNvSpPr/>
          <p:nvPr/>
        </p:nvSpPr>
        <p:spPr>
          <a:xfrm>
            <a:off x="7680960" y="1417320"/>
            <a:ext cx="4023360" cy="2240280"/>
          </a:xfrm>
          <a:prstGeom prst="roundRect">
            <a:avLst>
              <a:gd name="adj" fmla="val 3265"/>
            </a:avLst>
          </a:prstGeom>
          <a:solidFill>
            <a:srgbClr val="2C5F2D"/>
          </a:solidFill>
          <a:ln/>
        </p:spPr>
      </p:sp>
      <p:sp>
        <p:nvSpPr>
          <p:cNvPr id="7" name="Text 5"/>
          <p:cNvSpPr txBox="1"/>
          <p:nvPr/>
        </p:nvSpPr>
        <p:spPr>
          <a:xfrm>
            <a:off x="8001000" y="1691640"/>
            <a:ext cx="3383280" cy="274320"/>
          </a:xfrm>
          <a:prstGeom prst="rect">
            <a:avLst/>
          </a:prstGeom>
          <a:noFill/>
          <a:ln/>
        </p:spPr>
        <p:txBody>
          <a:bodyPr wrap="square" lIns="0" tIns="0" rIns="0" bIns="0" rtlCol="0" anchor="ctr"/>
          <a:lstStyle/>
          <a:p>
            <a:pPr indent="0" marL="0">
              <a:buNone/>
            </a:pPr>
            <a:r>
              <a:rPr lang="en-US" sz="1100" b="1" spc="150" kern="0" dirty="0">
                <a:solidFill>
                  <a:srgbClr val="97BC62"/>
                </a:solidFill>
                <a:latin typeface="Calibri" pitchFamily="34" charset="0"/>
                <a:ea typeface="Calibri" pitchFamily="34" charset="-122"/>
                <a:cs typeface="Calibri" pitchFamily="34" charset="-120"/>
              </a:rPr>
              <a:t>The task</a:t>
            </a:r>
            <a:endParaRPr lang="en-US" sz="1100" dirty="0"/>
          </a:p>
        </p:txBody>
      </p:sp>
      <p:sp>
        <p:nvSpPr>
          <p:cNvPr id="8" name="Text 6"/>
          <p:cNvSpPr txBox="1"/>
          <p:nvPr/>
        </p:nvSpPr>
        <p:spPr>
          <a:xfrm>
            <a:off x="8001000" y="2057400"/>
            <a:ext cx="3383280" cy="1463040"/>
          </a:xfrm>
          <a:prstGeom prst="rect">
            <a:avLst/>
          </a:prstGeom>
          <a:noFill/>
          <a:ln/>
        </p:spPr>
        <p:txBody>
          <a:bodyPr wrap="square" lIns="0" tIns="0" rIns="0" bIns="0" rtlCol="0" anchor="ctr"/>
          <a:lstStyle/>
          <a:p>
            <a:pPr indent="0" marL="0">
              <a:lnSpc>
                <a:spcPts val="1900"/>
              </a:lnSpc>
              <a:buNone/>
            </a:pPr>
            <a:r>
              <a:rPr lang="en-US" sz="1300" dirty="0">
                <a:solidFill>
                  <a:srgbClr val="FFFFFF"/>
                </a:solidFill>
                <a:latin typeface="Calibri" pitchFamily="34" charset="0"/>
                <a:ea typeface="Calibri" pitchFamily="34" charset="-122"/>
                <a:cs typeface="Calibri" pitchFamily="34" charset="-120"/>
              </a:rPr>
              <a:t>Analyse the dataset and investigate seasonal differences in agricultural performance by identifying meaningful patterns, trends, relationships and variations within the available data.</a:t>
            </a:r>
            <a:endParaRPr lang="en-US" sz="1300" dirty="0"/>
          </a:p>
        </p:txBody>
      </p:sp>
      <p:sp>
        <p:nvSpPr>
          <p:cNvPr id="9" name="Text 7"/>
          <p:cNvSpPr txBox="1"/>
          <p:nvPr/>
        </p:nvSpPr>
        <p:spPr>
          <a:xfrm>
            <a:off x="548640" y="3931920"/>
            <a:ext cx="5486400" cy="256032"/>
          </a:xfrm>
          <a:prstGeom prst="rect">
            <a:avLst/>
          </a:prstGeom>
          <a:noFill/>
          <a:ln/>
        </p:spPr>
        <p:txBody>
          <a:bodyPr wrap="square" lIns="0" tIns="0" rIns="0" bIns="0" rtlCol="0" anchor="ctr"/>
          <a:lstStyle/>
          <a:p>
            <a:pPr indent="0" marL="0">
              <a:buNone/>
            </a:pPr>
            <a:r>
              <a:rPr lang="en-US" sz="1100" b="1" spc="150" kern="0" dirty="0">
                <a:solidFill>
                  <a:srgbClr val="2C5F2D"/>
                </a:solidFill>
                <a:latin typeface="Calibri" pitchFamily="34" charset="0"/>
                <a:ea typeface="Calibri" pitchFamily="34" charset="-122"/>
                <a:cs typeface="Calibri" pitchFamily="34" charset="-120"/>
              </a:rPr>
              <a:t>ANALYTICAL QUESTIONS</a:t>
            </a:r>
            <a:endParaRPr lang="en-US" sz="1100" dirty="0"/>
          </a:p>
        </p:txBody>
      </p:sp>
      <p:sp>
        <p:nvSpPr>
          <p:cNvPr id="10" name="Shape 8"/>
          <p:cNvSpPr/>
          <p:nvPr/>
        </p:nvSpPr>
        <p:spPr>
          <a:xfrm>
            <a:off x="548640" y="4279392"/>
            <a:ext cx="329184" cy="329184"/>
          </a:xfrm>
          <a:prstGeom prst="ellipse">
            <a:avLst/>
          </a:prstGeom>
          <a:solidFill>
            <a:srgbClr val="97BC62"/>
          </a:solidFill>
          <a:ln/>
        </p:spPr>
      </p:sp>
      <p:sp>
        <p:nvSpPr>
          <p:cNvPr id="11" name="Text 9"/>
          <p:cNvSpPr txBox="1"/>
          <p:nvPr/>
        </p:nvSpPr>
        <p:spPr>
          <a:xfrm>
            <a:off x="548640" y="4315968"/>
            <a:ext cx="329184" cy="256032"/>
          </a:xfrm>
          <a:prstGeom prst="rect">
            <a:avLst/>
          </a:prstGeom>
          <a:noFill/>
          <a:ln/>
        </p:spPr>
        <p:txBody>
          <a:bodyPr wrap="square" lIns="0" tIns="0" rIns="0" bIns="0" rtlCol="0" anchor="ctr"/>
          <a:lstStyle/>
          <a:p>
            <a:pPr algn="ctr" indent="0" marL="0">
              <a:buNone/>
            </a:pPr>
            <a:r>
              <a:rPr lang="en-US" sz="1200" b="1" dirty="0">
                <a:solidFill>
                  <a:srgbClr val="1B3A1C"/>
                </a:solidFill>
                <a:latin typeface="Calibri" pitchFamily="34" charset="0"/>
                <a:ea typeface="Calibri" pitchFamily="34" charset="-122"/>
                <a:cs typeface="Calibri" pitchFamily="34" charset="-120"/>
              </a:rPr>
              <a:t>1</a:t>
            </a:r>
            <a:endParaRPr lang="en-US" sz="1200" dirty="0"/>
          </a:p>
        </p:txBody>
      </p:sp>
      <p:sp>
        <p:nvSpPr>
          <p:cNvPr id="12" name="Text 10"/>
          <p:cNvSpPr txBox="1"/>
          <p:nvPr/>
        </p:nvSpPr>
        <p:spPr>
          <a:xfrm>
            <a:off x="1005840" y="4306824"/>
            <a:ext cx="5120640" cy="457200"/>
          </a:xfrm>
          <a:prstGeom prst="rect">
            <a:avLst/>
          </a:prstGeom>
          <a:noFill/>
          <a:ln/>
        </p:spPr>
        <p:txBody>
          <a:bodyPr wrap="square" lIns="0" tIns="0" rIns="0" bIns="0" rtlCol="0" anchor="t"/>
          <a:lstStyle/>
          <a:p>
            <a:pPr indent="0" marL="0">
              <a:lnSpc>
                <a:spcPts val="1500"/>
              </a:lnSpc>
              <a:buNone/>
            </a:pPr>
            <a:r>
              <a:rPr lang="en-US" sz="1200" dirty="0">
                <a:solidFill>
                  <a:srgbClr val="22301F"/>
                </a:solidFill>
                <a:latin typeface="Calibri" pitchFamily="34" charset="0"/>
                <a:ea typeface="Calibri" pitchFamily="34" charset="-122"/>
                <a:cs typeface="Calibri" pitchFamily="34" charset="-120"/>
              </a:rPr>
              <a:t>Are the three seasons genuinely different in environmental terms?</a:t>
            </a:r>
            <a:endParaRPr lang="en-US" sz="1200" dirty="0"/>
          </a:p>
        </p:txBody>
      </p:sp>
      <p:sp>
        <p:nvSpPr>
          <p:cNvPr id="13" name="Shape 11"/>
          <p:cNvSpPr/>
          <p:nvPr/>
        </p:nvSpPr>
        <p:spPr>
          <a:xfrm>
            <a:off x="6309360" y="4279392"/>
            <a:ext cx="329184" cy="329184"/>
          </a:xfrm>
          <a:prstGeom prst="ellipse">
            <a:avLst/>
          </a:prstGeom>
          <a:solidFill>
            <a:srgbClr val="97BC62"/>
          </a:solidFill>
          <a:ln/>
        </p:spPr>
      </p:sp>
      <p:sp>
        <p:nvSpPr>
          <p:cNvPr id="14" name="Text 12"/>
          <p:cNvSpPr txBox="1"/>
          <p:nvPr/>
        </p:nvSpPr>
        <p:spPr>
          <a:xfrm>
            <a:off x="6309360" y="4315968"/>
            <a:ext cx="329184" cy="256032"/>
          </a:xfrm>
          <a:prstGeom prst="rect">
            <a:avLst/>
          </a:prstGeom>
          <a:noFill/>
          <a:ln/>
        </p:spPr>
        <p:txBody>
          <a:bodyPr wrap="square" lIns="0" tIns="0" rIns="0" bIns="0" rtlCol="0" anchor="ctr"/>
          <a:lstStyle/>
          <a:p>
            <a:pPr algn="ctr" indent="0" marL="0">
              <a:buNone/>
            </a:pPr>
            <a:r>
              <a:rPr lang="en-US" sz="1200" b="1" dirty="0">
                <a:solidFill>
                  <a:srgbClr val="1B3A1C"/>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6766560" y="4306824"/>
            <a:ext cx="5120640" cy="457200"/>
          </a:xfrm>
          <a:prstGeom prst="rect">
            <a:avLst/>
          </a:prstGeom>
          <a:noFill/>
          <a:ln/>
        </p:spPr>
        <p:txBody>
          <a:bodyPr wrap="square" lIns="0" tIns="0" rIns="0" bIns="0" rtlCol="0" anchor="t"/>
          <a:lstStyle/>
          <a:p>
            <a:pPr indent="0" marL="0">
              <a:lnSpc>
                <a:spcPts val="1500"/>
              </a:lnSpc>
              <a:buNone/>
            </a:pPr>
            <a:r>
              <a:rPr lang="en-US" sz="1200" dirty="0">
                <a:solidFill>
                  <a:srgbClr val="22301F"/>
                </a:solidFill>
                <a:latin typeface="Calibri" pitchFamily="34" charset="0"/>
                <a:ea typeface="Calibri" pitchFamily="34" charset="-122"/>
                <a:cs typeface="Calibri" pitchFamily="34" charset="-120"/>
              </a:rPr>
              <a:t>Does yield vary by season — and is the variation statistically significant?</a:t>
            </a:r>
            <a:endParaRPr lang="en-US" sz="1200" dirty="0"/>
          </a:p>
        </p:txBody>
      </p:sp>
      <p:sp>
        <p:nvSpPr>
          <p:cNvPr id="16" name="Shape 14"/>
          <p:cNvSpPr/>
          <p:nvPr/>
        </p:nvSpPr>
        <p:spPr>
          <a:xfrm>
            <a:off x="548640" y="4937760"/>
            <a:ext cx="329184" cy="329184"/>
          </a:xfrm>
          <a:prstGeom prst="ellipse">
            <a:avLst/>
          </a:prstGeom>
          <a:solidFill>
            <a:srgbClr val="97BC62"/>
          </a:solidFill>
          <a:ln/>
        </p:spPr>
      </p:sp>
      <p:sp>
        <p:nvSpPr>
          <p:cNvPr id="17" name="Text 15"/>
          <p:cNvSpPr txBox="1"/>
          <p:nvPr/>
        </p:nvSpPr>
        <p:spPr>
          <a:xfrm>
            <a:off x="548640" y="4974336"/>
            <a:ext cx="329184" cy="256032"/>
          </a:xfrm>
          <a:prstGeom prst="rect">
            <a:avLst/>
          </a:prstGeom>
          <a:noFill/>
          <a:ln/>
        </p:spPr>
        <p:txBody>
          <a:bodyPr wrap="square" lIns="0" tIns="0" rIns="0" bIns="0" rtlCol="0" anchor="ctr"/>
          <a:lstStyle/>
          <a:p>
            <a:pPr algn="ctr" indent="0" marL="0">
              <a:buNone/>
            </a:pPr>
            <a:r>
              <a:rPr lang="en-US" sz="1200" b="1" dirty="0">
                <a:solidFill>
                  <a:srgbClr val="1B3A1C"/>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1005840" y="4965192"/>
            <a:ext cx="5120640" cy="457200"/>
          </a:xfrm>
          <a:prstGeom prst="rect">
            <a:avLst/>
          </a:prstGeom>
          <a:noFill/>
          <a:ln/>
        </p:spPr>
        <p:txBody>
          <a:bodyPr wrap="square" lIns="0" tIns="0" rIns="0" bIns="0" rtlCol="0" anchor="t"/>
          <a:lstStyle/>
          <a:p>
            <a:pPr indent="0" marL="0">
              <a:lnSpc>
                <a:spcPts val="1500"/>
              </a:lnSpc>
              <a:buNone/>
            </a:pPr>
            <a:r>
              <a:rPr lang="en-US" sz="1200" dirty="0">
                <a:solidFill>
                  <a:srgbClr val="22301F"/>
                </a:solidFill>
                <a:latin typeface="Calibri" pitchFamily="34" charset="0"/>
                <a:ea typeface="Calibri" pitchFamily="34" charset="-122"/>
                <a:cs typeface="Calibri" pitchFamily="34" charset="-120"/>
              </a:rPr>
              <a:t>How do cost, revenue and profit shift from season to season?</a:t>
            </a:r>
            <a:endParaRPr lang="en-US" sz="1200" dirty="0"/>
          </a:p>
        </p:txBody>
      </p:sp>
      <p:sp>
        <p:nvSpPr>
          <p:cNvPr id="19" name="Shape 17"/>
          <p:cNvSpPr/>
          <p:nvPr/>
        </p:nvSpPr>
        <p:spPr>
          <a:xfrm>
            <a:off x="6309360" y="4937760"/>
            <a:ext cx="329184" cy="329184"/>
          </a:xfrm>
          <a:prstGeom prst="ellipse">
            <a:avLst/>
          </a:prstGeom>
          <a:solidFill>
            <a:srgbClr val="97BC62"/>
          </a:solidFill>
          <a:ln/>
        </p:spPr>
      </p:sp>
      <p:sp>
        <p:nvSpPr>
          <p:cNvPr id="20" name="Text 18"/>
          <p:cNvSpPr txBox="1"/>
          <p:nvPr/>
        </p:nvSpPr>
        <p:spPr>
          <a:xfrm>
            <a:off x="6309360" y="4974336"/>
            <a:ext cx="329184" cy="256032"/>
          </a:xfrm>
          <a:prstGeom prst="rect">
            <a:avLst/>
          </a:prstGeom>
          <a:noFill/>
          <a:ln/>
        </p:spPr>
        <p:txBody>
          <a:bodyPr wrap="square" lIns="0" tIns="0" rIns="0" bIns="0" rtlCol="0" anchor="ctr"/>
          <a:lstStyle/>
          <a:p>
            <a:pPr algn="ctr" indent="0" marL="0">
              <a:buNone/>
            </a:pPr>
            <a:r>
              <a:rPr lang="en-US" sz="1200" b="1" dirty="0">
                <a:solidFill>
                  <a:srgbClr val="1B3A1C"/>
                </a:solidFill>
                <a:latin typeface="Calibri" pitchFamily="34" charset="0"/>
                <a:ea typeface="Calibri" pitchFamily="34" charset="-122"/>
                <a:cs typeface="Calibri" pitchFamily="34" charset="-120"/>
              </a:rPr>
              <a:t>4</a:t>
            </a:r>
            <a:endParaRPr lang="en-US" sz="1200" dirty="0"/>
          </a:p>
        </p:txBody>
      </p:sp>
      <p:sp>
        <p:nvSpPr>
          <p:cNvPr id="21" name="Text 19"/>
          <p:cNvSpPr txBox="1"/>
          <p:nvPr/>
        </p:nvSpPr>
        <p:spPr>
          <a:xfrm>
            <a:off x="6766560" y="4965192"/>
            <a:ext cx="5120640" cy="457200"/>
          </a:xfrm>
          <a:prstGeom prst="rect">
            <a:avLst/>
          </a:prstGeom>
          <a:noFill/>
          <a:ln/>
        </p:spPr>
        <p:txBody>
          <a:bodyPr wrap="square" lIns="0" tIns="0" rIns="0" bIns="0" rtlCol="0" anchor="t"/>
          <a:lstStyle/>
          <a:p>
            <a:pPr indent="0" marL="0">
              <a:lnSpc>
                <a:spcPts val="1500"/>
              </a:lnSpc>
              <a:buNone/>
            </a:pPr>
            <a:r>
              <a:rPr lang="en-US" sz="1200" dirty="0">
                <a:solidFill>
                  <a:srgbClr val="22301F"/>
                </a:solidFill>
                <a:latin typeface="Calibri" pitchFamily="34" charset="0"/>
                <a:ea typeface="Calibri" pitchFamily="34" charset="-122"/>
                <a:cs typeface="Calibri" pitchFamily="34" charset="-120"/>
              </a:rPr>
              <a:t>Does disease and pest pressure follow a seasonal pattern?</a:t>
            </a:r>
            <a:endParaRPr lang="en-US" sz="1200" dirty="0"/>
          </a:p>
        </p:txBody>
      </p:sp>
      <p:sp>
        <p:nvSpPr>
          <p:cNvPr id="22" name="Shape 20"/>
          <p:cNvSpPr/>
          <p:nvPr/>
        </p:nvSpPr>
        <p:spPr>
          <a:xfrm>
            <a:off x="548640" y="5596128"/>
            <a:ext cx="329184" cy="329184"/>
          </a:xfrm>
          <a:prstGeom prst="ellipse">
            <a:avLst/>
          </a:prstGeom>
          <a:solidFill>
            <a:srgbClr val="97BC62"/>
          </a:solidFill>
          <a:ln/>
        </p:spPr>
      </p:sp>
      <p:sp>
        <p:nvSpPr>
          <p:cNvPr id="23" name="Text 21"/>
          <p:cNvSpPr txBox="1"/>
          <p:nvPr/>
        </p:nvSpPr>
        <p:spPr>
          <a:xfrm>
            <a:off x="548640" y="5632704"/>
            <a:ext cx="329184" cy="256032"/>
          </a:xfrm>
          <a:prstGeom prst="rect">
            <a:avLst/>
          </a:prstGeom>
          <a:noFill/>
          <a:ln/>
        </p:spPr>
        <p:txBody>
          <a:bodyPr wrap="square" lIns="0" tIns="0" rIns="0" bIns="0" rtlCol="0" anchor="ctr"/>
          <a:lstStyle/>
          <a:p>
            <a:pPr algn="ctr" indent="0" marL="0">
              <a:buNone/>
            </a:pPr>
            <a:r>
              <a:rPr lang="en-US" sz="1200" b="1" dirty="0">
                <a:solidFill>
                  <a:srgbClr val="1B3A1C"/>
                </a:solidFill>
                <a:latin typeface="Calibri" pitchFamily="34" charset="0"/>
                <a:ea typeface="Calibri" pitchFamily="34" charset="-122"/>
                <a:cs typeface="Calibri" pitchFamily="34" charset="-120"/>
              </a:rPr>
              <a:t>5</a:t>
            </a:r>
            <a:endParaRPr lang="en-US" sz="1200" dirty="0"/>
          </a:p>
        </p:txBody>
      </p:sp>
      <p:sp>
        <p:nvSpPr>
          <p:cNvPr id="24" name="Text 22"/>
          <p:cNvSpPr txBox="1"/>
          <p:nvPr/>
        </p:nvSpPr>
        <p:spPr>
          <a:xfrm>
            <a:off x="1005840" y="5623560"/>
            <a:ext cx="5120640" cy="457200"/>
          </a:xfrm>
          <a:prstGeom prst="rect">
            <a:avLst/>
          </a:prstGeom>
          <a:noFill/>
          <a:ln/>
        </p:spPr>
        <p:txBody>
          <a:bodyPr wrap="square" lIns="0" tIns="0" rIns="0" bIns="0" rtlCol="0" anchor="t"/>
          <a:lstStyle/>
          <a:p>
            <a:pPr indent="0" marL="0">
              <a:lnSpc>
                <a:spcPts val="1500"/>
              </a:lnSpc>
              <a:buNone/>
            </a:pPr>
            <a:r>
              <a:rPr lang="en-US" sz="1200" dirty="0">
                <a:solidFill>
                  <a:srgbClr val="22301F"/>
                </a:solidFill>
                <a:latin typeface="Calibri" pitchFamily="34" charset="0"/>
                <a:ea typeface="Calibri" pitchFamily="34" charset="-122"/>
                <a:cs typeface="Calibri" pitchFamily="34" charset="-120"/>
              </a:rPr>
              <a:t>Does the best irrigation method depend on the season?</a:t>
            </a:r>
            <a:endParaRPr lang="en-US" sz="1200" dirty="0"/>
          </a:p>
        </p:txBody>
      </p:sp>
      <p:sp>
        <p:nvSpPr>
          <p:cNvPr id="25" name="Shape 23"/>
          <p:cNvSpPr/>
          <p:nvPr/>
        </p:nvSpPr>
        <p:spPr>
          <a:xfrm>
            <a:off x="6309360" y="5596128"/>
            <a:ext cx="329184" cy="329184"/>
          </a:xfrm>
          <a:prstGeom prst="ellipse">
            <a:avLst/>
          </a:prstGeom>
          <a:solidFill>
            <a:srgbClr val="97BC62"/>
          </a:solidFill>
          <a:ln/>
        </p:spPr>
      </p:sp>
      <p:sp>
        <p:nvSpPr>
          <p:cNvPr id="26" name="Text 24"/>
          <p:cNvSpPr txBox="1"/>
          <p:nvPr/>
        </p:nvSpPr>
        <p:spPr>
          <a:xfrm>
            <a:off x="6309360" y="5632704"/>
            <a:ext cx="329184" cy="256032"/>
          </a:xfrm>
          <a:prstGeom prst="rect">
            <a:avLst/>
          </a:prstGeom>
          <a:noFill/>
          <a:ln/>
        </p:spPr>
        <p:txBody>
          <a:bodyPr wrap="square" lIns="0" tIns="0" rIns="0" bIns="0" rtlCol="0" anchor="ctr"/>
          <a:lstStyle/>
          <a:p>
            <a:pPr algn="ctr" indent="0" marL="0">
              <a:buNone/>
            </a:pPr>
            <a:r>
              <a:rPr lang="en-US" sz="1200" b="1" dirty="0">
                <a:solidFill>
                  <a:srgbClr val="1B3A1C"/>
                </a:solidFill>
                <a:latin typeface="Calibri" pitchFamily="34" charset="0"/>
                <a:ea typeface="Calibri" pitchFamily="34" charset="-122"/>
                <a:cs typeface="Calibri" pitchFamily="34" charset="-120"/>
              </a:rPr>
              <a:t>6</a:t>
            </a:r>
            <a:endParaRPr lang="en-US" sz="1200" dirty="0"/>
          </a:p>
        </p:txBody>
      </p:sp>
      <p:sp>
        <p:nvSpPr>
          <p:cNvPr id="27" name="Text 25"/>
          <p:cNvSpPr txBox="1"/>
          <p:nvPr/>
        </p:nvSpPr>
        <p:spPr>
          <a:xfrm>
            <a:off x="6766560" y="5623560"/>
            <a:ext cx="5120640" cy="457200"/>
          </a:xfrm>
          <a:prstGeom prst="rect">
            <a:avLst/>
          </a:prstGeom>
          <a:noFill/>
          <a:ln/>
        </p:spPr>
        <p:txBody>
          <a:bodyPr wrap="square" lIns="0" tIns="0" rIns="0" bIns="0" rtlCol="0" anchor="t"/>
          <a:lstStyle/>
          <a:p>
            <a:pPr indent="0" marL="0">
              <a:lnSpc>
                <a:spcPts val="1500"/>
              </a:lnSpc>
              <a:buNone/>
            </a:pPr>
            <a:r>
              <a:rPr lang="en-US" sz="1200" dirty="0">
                <a:solidFill>
                  <a:srgbClr val="22301F"/>
                </a:solidFill>
                <a:latin typeface="Calibri" pitchFamily="34" charset="0"/>
                <a:ea typeface="Calibri" pitchFamily="34" charset="-122"/>
                <a:cs typeface="Calibri" pitchFamily="34" charset="-120"/>
              </a:rPr>
              <a:t>Are the patterns consistent across states, or are some regions insulated?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9260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WHAT WAS BUILT</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200" b="1" dirty="0">
                <a:solidFill>
                  <a:srgbClr val="1B3A1C"/>
                </a:solidFill>
                <a:latin typeface="Cambria" pitchFamily="34" charset="0"/>
                <a:ea typeface="Cambria" pitchFamily="34" charset="-122"/>
                <a:cs typeface="Cambria" pitchFamily="34" charset="-120"/>
              </a:rPr>
              <a:t>Project Description</a:t>
            </a:r>
            <a:endParaRPr lang="en-US" sz="3200" dirty="0"/>
          </a:p>
        </p:txBody>
      </p:sp>
      <p:sp>
        <p:nvSpPr>
          <p:cNvPr id="4" name="Text 2"/>
          <p:cNvSpPr txBox="1"/>
          <p:nvPr/>
        </p:nvSpPr>
        <p:spPr>
          <a:xfrm>
            <a:off x="548640" y="1371600"/>
            <a:ext cx="11155680" cy="731520"/>
          </a:xfrm>
          <a:prstGeom prst="rect">
            <a:avLst/>
          </a:prstGeom>
          <a:noFill/>
          <a:ln/>
        </p:spPr>
        <p:txBody>
          <a:bodyPr wrap="square" lIns="0" tIns="0" rIns="0" bIns="0" rtlCol="0" anchor="ctr"/>
          <a:lstStyle/>
          <a:p>
            <a:pPr indent="0" marL="0">
              <a:lnSpc>
                <a:spcPts val="2000"/>
              </a:lnSpc>
              <a:buNone/>
            </a:pPr>
            <a:r>
              <a:rPr lang="en-US" sz="1400" dirty="0">
                <a:solidFill>
                  <a:srgbClr val="22301F"/>
                </a:solidFill>
                <a:latin typeface="Calibri" pitchFamily="34" charset="0"/>
                <a:ea typeface="Calibri" pitchFamily="34" charset="-122"/>
                <a:cs typeface="Calibri" pitchFamily="34" charset="-120"/>
              </a:rPr>
              <a:t>An end-to-end data analytics project on a 4,000-farm agricultural dataset spanning eight Indian states, eight crops and three cropping seasons. The analysis moves from raw data through cleaning and statistical testing to evidence-based recommendations, documented entirely in a Jupyter Notebook.</a:t>
            </a:r>
            <a:endParaRPr lang="en-US" sz="1400" dirty="0"/>
          </a:p>
        </p:txBody>
      </p:sp>
      <p:sp>
        <p:nvSpPr>
          <p:cNvPr id="5" name="Shape 3"/>
          <p:cNvSpPr/>
          <p:nvPr/>
        </p:nvSpPr>
        <p:spPr>
          <a:xfrm>
            <a:off x="548640" y="2240280"/>
            <a:ext cx="3520440" cy="1508760"/>
          </a:xfrm>
          <a:prstGeom prst="roundRect">
            <a:avLst>
              <a:gd name="adj" fmla="val 4848"/>
            </a:avLst>
          </a:prstGeom>
          <a:solidFill>
            <a:srgbClr val="F4F6F0"/>
          </a:solidFill>
          <a:ln w="12700">
            <a:solidFill>
              <a:srgbClr val="E2E7DC"/>
            </a:solidFill>
            <a:prstDash val="solid"/>
          </a:ln>
        </p:spPr>
      </p:sp>
      <p:sp>
        <p:nvSpPr>
          <p:cNvPr id="6" name="Text 4"/>
          <p:cNvSpPr txBox="1"/>
          <p:nvPr/>
        </p:nvSpPr>
        <p:spPr>
          <a:xfrm>
            <a:off x="777240" y="2404872"/>
            <a:ext cx="3063240" cy="658368"/>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4,000</a:t>
            </a:r>
            <a:endParaRPr lang="en-US" sz="3400" dirty="0"/>
          </a:p>
        </p:txBody>
      </p:sp>
      <p:sp>
        <p:nvSpPr>
          <p:cNvPr id="7" name="Text 5"/>
          <p:cNvSpPr txBox="1"/>
          <p:nvPr/>
        </p:nvSpPr>
        <p:spPr>
          <a:xfrm>
            <a:off x="777240" y="3081528"/>
            <a:ext cx="3063240" cy="530352"/>
          </a:xfrm>
          <a:prstGeom prst="rect">
            <a:avLst/>
          </a:prstGeom>
          <a:noFill/>
          <a:ln/>
        </p:spPr>
        <p:txBody>
          <a:bodyPr wrap="square" lIns="0" tIns="0" rIns="0" bIns="0" rtlCol="0" anchor="ctr"/>
          <a:lstStyle/>
          <a:p>
            <a:pPr indent="0" marL="0">
              <a:buNone/>
            </a:pPr>
            <a:r>
              <a:rPr lang="en-US" sz="1150" dirty="0">
                <a:solidFill>
                  <a:srgbClr val="5E6B5A"/>
                </a:solidFill>
                <a:latin typeface="Calibri" pitchFamily="34" charset="0"/>
                <a:ea typeface="Calibri" pitchFamily="34" charset="-122"/>
                <a:cs typeface="Calibri" pitchFamily="34" charset="-120"/>
              </a:rPr>
              <a:t>Farm records analysed</a:t>
            </a:r>
            <a:endParaRPr lang="en-US" sz="1150" dirty="0"/>
          </a:p>
        </p:txBody>
      </p:sp>
      <p:sp>
        <p:nvSpPr>
          <p:cNvPr id="8" name="Shape 6"/>
          <p:cNvSpPr/>
          <p:nvPr/>
        </p:nvSpPr>
        <p:spPr>
          <a:xfrm>
            <a:off x="4389120" y="2240280"/>
            <a:ext cx="3520440" cy="1508760"/>
          </a:xfrm>
          <a:prstGeom prst="roundRect">
            <a:avLst>
              <a:gd name="adj" fmla="val 4848"/>
            </a:avLst>
          </a:prstGeom>
          <a:solidFill>
            <a:srgbClr val="F4F6F0"/>
          </a:solidFill>
          <a:ln w="12700">
            <a:solidFill>
              <a:srgbClr val="E2E7DC"/>
            </a:solidFill>
            <a:prstDash val="solid"/>
          </a:ln>
        </p:spPr>
      </p:sp>
      <p:sp>
        <p:nvSpPr>
          <p:cNvPr id="9" name="Text 7"/>
          <p:cNvSpPr txBox="1"/>
          <p:nvPr/>
        </p:nvSpPr>
        <p:spPr>
          <a:xfrm>
            <a:off x="4617720" y="2404872"/>
            <a:ext cx="3063240" cy="658368"/>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28</a:t>
            </a:r>
            <a:endParaRPr lang="en-US" sz="3400" dirty="0"/>
          </a:p>
        </p:txBody>
      </p:sp>
      <p:sp>
        <p:nvSpPr>
          <p:cNvPr id="10" name="Text 8"/>
          <p:cNvSpPr txBox="1"/>
          <p:nvPr/>
        </p:nvSpPr>
        <p:spPr>
          <a:xfrm>
            <a:off x="4617720" y="3081528"/>
            <a:ext cx="3063240" cy="530352"/>
          </a:xfrm>
          <a:prstGeom prst="rect">
            <a:avLst/>
          </a:prstGeom>
          <a:noFill/>
          <a:ln/>
        </p:spPr>
        <p:txBody>
          <a:bodyPr wrap="square" lIns="0" tIns="0" rIns="0" bIns="0" rtlCol="0" anchor="ctr"/>
          <a:lstStyle/>
          <a:p>
            <a:pPr indent="0" marL="0">
              <a:buNone/>
            </a:pPr>
            <a:r>
              <a:rPr lang="en-US" sz="1150" dirty="0">
                <a:solidFill>
                  <a:srgbClr val="5E6B5A"/>
                </a:solidFill>
                <a:latin typeface="Calibri" pitchFamily="34" charset="0"/>
                <a:ea typeface="Calibri" pitchFamily="34" charset="-122"/>
                <a:cs typeface="Calibri" pitchFamily="34" charset="-120"/>
              </a:rPr>
              <a:t>Variables per farm</a:t>
            </a:r>
            <a:endParaRPr lang="en-US" sz="1150" dirty="0"/>
          </a:p>
        </p:txBody>
      </p:sp>
      <p:sp>
        <p:nvSpPr>
          <p:cNvPr id="11" name="Shape 9"/>
          <p:cNvSpPr/>
          <p:nvPr/>
        </p:nvSpPr>
        <p:spPr>
          <a:xfrm>
            <a:off x="8229600" y="2240280"/>
            <a:ext cx="3520440" cy="1508760"/>
          </a:xfrm>
          <a:prstGeom prst="roundRect">
            <a:avLst>
              <a:gd name="adj" fmla="val 4848"/>
            </a:avLst>
          </a:prstGeom>
          <a:solidFill>
            <a:srgbClr val="F4F6F0"/>
          </a:solidFill>
          <a:ln w="12700">
            <a:solidFill>
              <a:srgbClr val="E2E7DC"/>
            </a:solidFill>
            <a:prstDash val="solid"/>
          </a:ln>
        </p:spPr>
      </p:sp>
      <p:sp>
        <p:nvSpPr>
          <p:cNvPr id="12" name="Text 10"/>
          <p:cNvSpPr txBox="1"/>
          <p:nvPr/>
        </p:nvSpPr>
        <p:spPr>
          <a:xfrm>
            <a:off x="8458200" y="2404872"/>
            <a:ext cx="3063240" cy="658368"/>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3</a:t>
            </a:r>
            <a:endParaRPr lang="en-US" sz="3400" dirty="0"/>
          </a:p>
        </p:txBody>
      </p:sp>
      <p:sp>
        <p:nvSpPr>
          <p:cNvPr id="13" name="Text 11"/>
          <p:cNvSpPr txBox="1"/>
          <p:nvPr/>
        </p:nvSpPr>
        <p:spPr>
          <a:xfrm>
            <a:off x="8458200" y="3081528"/>
            <a:ext cx="3063240" cy="530352"/>
          </a:xfrm>
          <a:prstGeom prst="rect">
            <a:avLst/>
          </a:prstGeom>
          <a:noFill/>
          <a:ln/>
        </p:spPr>
        <p:txBody>
          <a:bodyPr wrap="square" lIns="0" tIns="0" rIns="0" bIns="0" rtlCol="0" anchor="ctr"/>
          <a:lstStyle/>
          <a:p>
            <a:pPr indent="0" marL="0">
              <a:buNone/>
            </a:pPr>
            <a:r>
              <a:rPr lang="en-US" sz="1150" dirty="0">
                <a:solidFill>
                  <a:srgbClr val="5E6B5A"/>
                </a:solidFill>
                <a:latin typeface="Calibri" pitchFamily="34" charset="0"/>
                <a:ea typeface="Calibri" pitchFamily="34" charset="-122"/>
                <a:cs typeface="Calibri" pitchFamily="34" charset="-120"/>
              </a:rPr>
              <a:t>Seasons compared</a:t>
            </a:r>
            <a:endParaRPr lang="en-US" sz="1150" dirty="0"/>
          </a:p>
        </p:txBody>
      </p:sp>
      <p:sp>
        <p:nvSpPr>
          <p:cNvPr id="14" name="Text 12"/>
          <p:cNvSpPr txBox="1"/>
          <p:nvPr/>
        </p:nvSpPr>
        <p:spPr>
          <a:xfrm>
            <a:off x="548640" y="3995928"/>
            <a:ext cx="502920" cy="365760"/>
          </a:xfrm>
          <a:prstGeom prst="rect">
            <a:avLst/>
          </a:prstGeom>
          <a:noFill/>
          <a:ln/>
        </p:spPr>
        <p:txBody>
          <a:bodyPr wrap="square" lIns="0" tIns="0" rIns="0" bIns="0" rtlCol="0" anchor="ctr"/>
          <a:lstStyle/>
          <a:p>
            <a:pPr indent="0" marL="0">
              <a:buNone/>
            </a:pPr>
            <a:r>
              <a:rPr lang="en-US" sz="1900" b="1" dirty="0">
                <a:solidFill>
                  <a:srgbClr val="97BC62"/>
                </a:solidFill>
                <a:latin typeface="Cambria" pitchFamily="34" charset="0"/>
                <a:ea typeface="Cambria" pitchFamily="34" charset="-122"/>
                <a:cs typeface="Cambria" pitchFamily="34" charset="-120"/>
              </a:rPr>
              <a:t>01</a:t>
            </a:r>
            <a:endParaRPr lang="en-US" sz="1900" dirty="0"/>
          </a:p>
        </p:txBody>
      </p:sp>
      <p:sp>
        <p:nvSpPr>
          <p:cNvPr id="15" name="Text 13"/>
          <p:cNvSpPr txBox="1"/>
          <p:nvPr/>
        </p:nvSpPr>
        <p:spPr>
          <a:xfrm>
            <a:off x="1143000" y="4023360"/>
            <a:ext cx="2286000" cy="274320"/>
          </a:xfrm>
          <a:prstGeom prst="rect">
            <a:avLst/>
          </a:prstGeom>
          <a:noFill/>
          <a:ln/>
        </p:spPr>
        <p:txBody>
          <a:bodyPr wrap="square" lIns="0" tIns="0" rIns="0" bIns="0" rtlCol="0" anchor="ctr"/>
          <a:lstStyle/>
          <a:p>
            <a:pPr indent="0" marL="0">
              <a:buNone/>
            </a:pPr>
            <a:r>
              <a:rPr lang="en-US" sz="1250" b="1" dirty="0">
                <a:solidFill>
                  <a:srgbClr val="2C5F2D"/>
                </a:solidFill>
                <a:latin typeface="Calibri" pitchFamily="34" charset="0"/>
                <a:ea typeface="Calibri" pitchFamily="34" charset="-122"/>
                <a:cs typeface="Calibri" pitchFamily="34" charset="-120"/>
              </a:rPr>
              <a:t>Data preparation</a:t>
            </a:r>
            <a:endParaRPr lang="en-US" sz="1250" dirty="0"/>
          </a:p>
        </p:txBody>
      </p:sp>
      <p:sp>
        <p:nvSpPr>
          <p:cNvPr id="16" name="Text 14"/>
          <p:cNvSpPr txBox="1"/>
          <p:nvPr/>
        </p:nvSpPr>
        <p:spPr>
          <a:xfrm>
            <a:off x="3520440" y="3995928"/>
            <a:ext cx="8183880" cy="566928"/>
          </a:xfrm>
          <a:prstGeom prst="rect">
            <a:avLst/>
          </a:prstGeom>
          <a:noFill/>
          <a:ln/>
        </p:spPr>
        <p:txBody>
          <a:bodyPr wrap="square" lIns="0" tIns="0" rIns="0" bIns="0" rtlCol="0" anchor="t"/>
          <a:lstStyle/>
          <a:p>
            <a:pPr indent="0" marL="0">
              <a:lnSpc>
                <a:spcPts val="1400"/>
              </a:lnSpc>
              <a:buNone/>
            </a:pPr>
            <a:r>
              <a:rPr lang="en-US" sz="1150" dirty="0">
                <a:solidFill>
                  <a:srgbClr val="5E6B5A"/>
                </a:solidFill>
                <a:latin typeface="Calibri" pitchFamily="34" charset="0"/>
                <a:ea typeface="Calibri" pitchFamily="34" charset="-122"/>
                <a:cs typeface="Calibri" pitchFamily="34" charset="-120"/>
              </a:rPr>
              <a:t>Extracted the table into a structured CSV, checked duplicates and impossible values, and imputed 120 missing entries using crop-and-season group medians.</a:t>
            </a:r>
            <a:endParaRPr lang="en-US" sz="1150" dirty="0"/>
          </a:p>
        </p:txBody>
      </p:sp>
      <p:sp>
        <p:nvSpPr>
          <p:cNvPr id="17" name="Text 15"/>
          <p:cNvSpPr txBox="1"/>
          <p:nvPr/>
        </p:nvSpPr>
        <p:spPr>
          <a:xfrm>
            <a:off x="548640" y="4654296"/>
            <a:ext cx="502920" cy="365760"/>
          </a:xfrm>
          <a:prstGeom prst="rect">
            <a:avLst/>
          </a:prstGeom>
          <a:noFill/>
          <a:ln/>
        </p:spPr>
        <p:txBody>
          <a:bodyPr wrap="square" lIns="0" tIns="0" rIns="0" bIns="0" rtlCol="0" anchor="ctr"/>
          <a:lstStyle/>
          <a:p>
            <a:pPr indent="0" marL="0">
              <a:buNone/>
            </a:pPr>
            <a:r>
              <a:rPr lang="en-US" sz="1900" b="1" dirty="0">
                <a:solidFill>
                  <a:srgbClr val="97BC62"/>
                </a:solidFill>
                <a:latin typeface="Cambria" pitchFamily="34" charset="0"/>
                <a:ea typeface="Cambria" pitchFamily="34" charset="-122"/>
                <a:cs typeface="Cambria" pitchFamily="34" charset="-120"/>
              </a:rPr>
              <a:t>02</a:t>
            </a:r>
            <a:endParaRPr lang="en-US" sz="1900" dirty="0"/>
          </a:p>
        </p:txBody>
      </p:sp>
      <p:sp>
        <p:nvSpPr>
          <p:cNvPr id="18" name="Text 16"/>
          <p:cNvSpPr txBox="1"/>
          <p:nvPr/>
        </p:nvSpPr>
        <p:spPr>
          <a:xfrm>
            <a:off x="1143000" y="4681728"/>
            <a:ext cx="2286000" cy="274320"/>
          </a:xfrm>
          <a:prstGeom prst="rect">
            <a:avLst/>
          </a:prstGeom>
          <a:noFill/>
          <a:ln/>
        </p:spPr>
        <p:txBody>
          <a:bodyPr wrap="square" lIns="0" tIns="0" rIns="0" bIns="0" rtlCol="0" anchor="ctr"/>
          <a:lstStyle/>
          <a:p>
            <a:pPr indent="0" marL="0">
              <a:buNone/>
            </a:pPr>
            <a:r>
              <a:rPr lang="en-US" sz="1250" b="1" dirty="0">
                <a:solidFill>
                  <a:srgbClr val="2C5F2D"/>
                </a:solidFill>
                <a:latin typeface="Calibri" pitchFamily="34" charset="0"/>
                <a:ea typeface="Calibri" pitchFamily="34" charset="-122"/>
                <a:cs typeface="Calibri" pitchFamily="34" charset="-120"/>
              </a:rPr>
              <a:t>Exploratory analysis</a:t>
            </a:r>
            <a:endParaRPr lang="en-US" sz="1250" dirty="0"/>
          </a:p>
        </p:txBody>
      </p:sp>
      <p:sp>
        <p:nvSpPr>
          <p:cNvPr id="19" name="Text 17"/>
          <p:cNvSpPr txBox="1"/>
          <p:nvPr/>
        </p:nvSpPr>
        <p:spPr>
          <a:xfrm>
            <a:off x="3520440" y="4654296"/>
            <a:ext cx="8183880" cy="566928"/>
          </a:xfrm>
          <a:prstGeom prst="rect">
            <a:avLst/>
          </a:prstGeom>
          <a:noFill/>
          <a:ln/>
        </p:spPr>
        <p:txBody>
          <a:bodyPr wrap="square" lIns="0" tIns="0" rIns="0" bIns="0" rtlCol="0" anchor="t"/>
          <a:lstStyle/>
          <a:p>
            <a:pPr indent="0" marL="0">
              <a:lnSpc>
                <a:spcPts val="1400"/>
              </a:lnSpc>
              <a:buNone/>
            </a:pPr>
            <a:r>
              <a:rPr lang="en-US" sz="1150" dirty="0">
                <a:solidFill>
                  <a:srgbClr val="5E6B5A"/>
                </a:solidFill>
                <a:latin typeface="Calibri" pitchFamily="34" charset="0"/>
                <a:ea typeface="Calibri" pitchFamily="34" charset="-122"/>
                <a:cs typeface="Calibri" pitchFamily="34" charset="-120"/>
              </a:rPr>
              <a:t>Profiled each season's environment, then compared yield, cost, revenue, risk and water use across Kharif, Rabi and Zaid.</a:t>
            </a:r>
            <a:endParaRPr lang="en-US" sz="1150" dirty="0"/>
          </a:p>
        </p:txBody>
      </p:sp>
      <p:sp>
        <p:nvSpPr>
          <p:cNvPr id="20" name="Text 18"/>
          <p:cNvSpPr txBox="1"/>
          <p:nvPr/>
        </p:nvSpPr>
        <p:spPr>
          <a:xfrm>
            <a:off x="548640" y="5312664"/>
            <a:ext cx="502920" cy="365760"/>
          </a:xfrm>
          <a:prstGeom prst="rect">
            <a:avLst/>
          </a:prstGeom>
          <a:noFill/>
          <a:ln/>
        </p:spPr>
        <p:txBody>
          <a:bodyPr wrap="square" lIns="0" tIns="0" rIns="0" bIns="0" rtlCol="0" anchor="ctr"/>
          <a:lstStyle/>
          <a:p>
            <a:pPr indent="0" marL="0">
              <a:buNone/>
            </a:pPr>
            <a:r>
              <a:rPr lang="en-US" sz="1900" b="1" dirty="0">
                <a:solidFill>
                  <a:srgbClr val="97BC62"/>
                </a:solidFill>
                <a:latin typeface="Cambria" pitchFamily="34" charset="0"/>
                <a:ea typeface="Cambria" pitchFamily="34" charset="-122"/>
                <a:cs typeface="Cambria" pitchFamily="34" charset="-120"/>
              </a:rPr>
              <a:t>03</a:t>
            </a:r>
            <a:endParaRPr lang="en-US" sz="1900" dirty="0"/>
          </a:p>
        </p:txBody>
      </p:sp>
      <p:sp>
        <p:nvSpPr>
          <p:cNvPr id="21" name="Text 19"/>
          <p:cNvSpPr txBox="1"/>
          <p:nvPr/>
        </p:nvSpPr>
        <p:spPr>
          <a:xfrm>
            <a:off x="1143000" y="5340096"/>
            <a:ext cx="2286000" cy="274320"/>
          </a:xfrm>
          <a:prstGeom prst="rect">
            <a:avLst/>
          </a:prstGeom>
          <a:noFill/>
          <a:ln/>
        </p:spPr>
        <p:txBody>
          <a:bodyPr wrap="square" lIns="0" tIns="0" rIns="0" bIns="0" rtlCol="0" anchor="ctr"/>
          <a:lstStyle/>
          <a:p>
            <a:pPr indent="0" marL="0">
              <a:buNone/>
            </a:pPr>
            <a:r>
              <a:rPr lang="en-US" sz="1250" b="1" dirty="0">
                <a:solidFill>
                  <a:srgbClr val="2C5F2D"/>
                </a:solidFill>
                <a:latin typeface="Calibri" pitchFamily="34" charset="0"/>
                <a:ea typeface="Calibri" pitchFamily="34" charset="-122"/>
                <a:cs typeface="Calibri" pitchFamily="34" charset="-120"/>
              </a:rPr>
              <a:t>Statistical testing</a:t>
            </a:r>
            <a:endParaRPr lang="en-US" sz="1250" dirty="0"/>
          </a:p>
        </p:txBody>
      </p:sp>
      <p:sp>
        <p:nvSpPr>
          <p:cNvPr id="22" name="Text 20"/>
          <p:cNvSpPr txBox="1"/>
          <p:nvPr/>
        </p:nvSpPr>
        <p:spPr>
          <a:xfrm>
            <a:off x="3520440" y="5312664"/>
            <a:ext cx="8183880" cy="566928"/>
          </a:xfrm>
          <a:prstGeom prst="rect">
            <a:avLst/>
          </a:prstGeom>
          <a:noFill/>
          <a:ln/>
        </p:spPr>
        <p:txBody>
          <a:bodyPr wrap="square" lIns="0" tIns="0" rIns="0" bIns="0" rtlCol="0" anchor="t"/>
          <a:lstStyle/>
          <a:p>
            <a:pPr indent="0" marL="0">
              <a:lnSpc>
                <a:spcPts val="1400"/>
              </a:lnSpc>
              <a:buNone/>
            </a:pPr>
            <a:r>
              <a:rPr lang="en-US" sz="1150" dirty="0">
                <a:solidFill>
                  <a:srgbClr val="5E6B5A"/>
                </a:solidFill>
                <a:latin typeface="Calibri" pitchFamily="34" charset="0"/>
                <a:ea typeface="Calibri" pitchFamily="34" charset="-122"/>
                <a:cs typeface="Calibri" pitchFamily="34" charset="-120"/>
              </a:rPr>
              <a:t>Applied one-way ANOVA, Welch t-tests, chi-square and correlation analysis to separate real seasonal effects from noise.</a:t>
            </a:r>
            <a:endParaRPr lang="en-US" sz="1150" dirty="0"/>
          </a:p>
        </p:txBody>
      </p:sp>
      <p:sp>
        <p:nvSpPr>
          <p:cNvPr id="23" name="Text 21"/>
          <p:cNvSpPr txBox="1"/>
          <p:nvPr/>
        </p:nvSpPr>
        <p:spPr>
          <a:xfrm>
            <a:off x="548640" y="5971032"/>
            <a:ext cx="502920" cy="365760"/>
          </a:xfrm>
          <a:prstGeom prst="rect">
            <a:avLst/>
          </a:prstGeom>
          <a:noFill/>
          <a:ln/>
        </p:spPr>
        <p:txBody>
          <a:bodyPr wrap="square" lIns="0" tIns="0" rIns="0" bIns="0" rtlCol="0" anchor="ctr"/>
          <a:lstStyle/>
          <a:p>
            <a:pPr indent="0" marL="0">
              <a:buNone/>
            </a:pPr>
            <a:r>
              <a:rPr lang="en-US" sz="1900" b="1" dirty="0">
                <a:solidFill>
                  <a:srgbClr val="97BC62"/>
                </a:solidFill>
                <a:latin typeface="Cambria" pitchFamily="34" charset="0"/>
                <a:ea typeface="Cambria" pitchFamily="34" charset="-122"/>
                <a:cs typeface="Cambria" pitchFamily="34" charset="-120"/>
              </a:rPr>
              <a:t>04</a:t>
            </a:r>
            <a:endParaRPr lang="en-US" sz="1900" dirty="0"/>
          </a:p>
        </p:txBody>
      </p:sp>
      <p:sp>
        <p:nvSpPr>
          <p:cNvPr id="24" name="Text 22"/>
          <p:cNvSpPr txBox="1"/>
          <p:nvPr/>
        </p:nvSpPr>
        <p:spPr>
          <a:xfrm>
            <a:off x="1143000" y="5998464"/>
            <a:ext cx="2286000" cy="274320"/>
          </a:xfrm>
          <a:prstGeom prst="rect">
            <a:avLst/>
          </a:prstGeom>
          <a:noFill/>
          <a:ln/>
        </p:spPr>
        <p:txBody>
          <a:bodyPr wrap="square" lIns="0" tIns="0" rIns="0" bIns="0" rtlCol="0" anchor="ctr"/>
          <a:lstStyle/>
          <a:p>
            <a:pPr indent="0" marL="0">
              <a:buNone/>
            </a:pPr>
            <a:r>
              <a:rPr lang="en-US" sz="1250" b="1" dirty="0">
                <a:solidFill>
                  <a:srgbClr val="2C5F2D"/>
                </a:solidFill>
                <a:latin typeface="Calibri" pitchFamily="34" charset="0"/>
                <a:ea typeface="Calibri" pitchFamily="34" charset="-122"/>
                <a:cs typeface="Calibri" pitchFamily="34" charset="-120"/>
              </a:rPr>
              <a:t>Insight &amp; recommendation</a:t>
            </a:r>
            <a:endParaRPr lang="en-US" sz="1250" dirty="0"/>
          </a:p>
        </p:txBody>
      </p:sp>
      <p:sp>
        <p:nvSpPr>
          <p:cNvPr id="25" name="Text 23"/>
          <p:cNvSpPr txBox="1"/>
          <p:nvPr/>
        </p:nvSpPr>
        <p:spPr>
          <a:xfrm>
            <a:off x="3520440" y="5971032"/>
            <a:ext cx="8183880" cy="566928"/>
          </a:xfrm>
          <a:prstGeom prst="rect">
            <a:avLst/>
          </a:prstGeom>
          <a:noFill/>
          <a:ln/>
        </p:spPr>
        <p:txBody>
          <a:bodyPr wrap="square" lIns="0" tIns="0" rIns="0" bIns="0" rtlCol="0" anchor="t"/>
          <a:lstStyle/>
          <a:p>
            <a:pPr indent="0" marL="0">
              <a:lnSpc>
                <a:spcPts val="1400"/>
              </a:lnSpc>
              <a:buNone/>
            </a:pPr>
            <a:r>
              <a:rPr lang="en-US" sz="1150" dirty="0">
                <a:solidFill>
                  <a:srgbClr val="5E6B5A"/>
                </a:solidFill>
                <a:latin typeface="Calibri" pitchFamily="34" charset="0"/>
                <a:ea typeface="Calibri" pitchFamily="34" charset="-122"/>
                <a:cs typeface="Calibri" pitchFamily="34" charset="-120"/>
              </a:rPr>
              <a:t>Traced each finding to its mechanism and converted it into specific guidance for farmers and planners.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9260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AUDIENCE</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200" b="1" dirty="0">
                <a:solidFill>
                  <a:srgbClr val="1B3A1C"/>
                </a:solidFill>
                <a:latin typeface="Cambria" pitchFamily="34" charset="0"/>
                <a:ea typeface="Cambria" pitchFamily="34" charset="-122"/>
                <a:cs typeface="Cambria" pitchFamily="34" charset="-120"/>
              </a:rPr>
              <a:t>Who Are The End Users?</a:t>
            </a:r>
            <a:endParaRPr lang="en-US" sz="3200" dirty="0"/>
          </a:p>
        </p:txBody>
      </p:sp>
      <p:sp>
        <p:nvSpPr>
          <p:cNvPr id="4" name="Shape 2"/>
          <p:cNvSpPr/>
          <p:nvPr/>
        </p:nvSpPr>
        <p:spPr>
          <a:xfrm>
            <a:off x="548640" y="1600200"/>
            <a:ext cx="3474720" cy="1965960"/>
          </a:xfrm>
          <a:prstGeom prst="roundRect">
            <a:avLst>
              <a:gd name="adj" fmla="val 3721"/>
            </a:avLst>
          </a:prstGeom>
          <a:solidFill>
            <a:srgbClr val="F4F6F0"/>
          </a:solidFill>
          <a:ln w="12700">
            <a:solidFill>
              <a:srgbClr val="E2E7DC"/>
            </a:solidFill>
            <a:prstDash val="solid"/>
          </a:ln>
        </p:spPr>
      </p:sp>
      <p:sp>
        <p:nvSpPr>
          <p:cNvPr id="5" name="Shape 3"/>
          <p:cNvSpPr/>
          <p:nvPr/>
        </p:nvSpPr>
        <p:spPr>
          <a:xfrm>
            <a:off x="822960" y="1856232"/>
            <a:ext cx="384048" cy="384048"/>
          </a:xfrm>
          <a:prstGeom prst="ellipse">
            <a:avLst/>
          </a:prstGeom>
          <a:solidFill>
            <a:srgbClr val="2C5F2D"/>
          </a:solidFill>
          <a:ln/>
        </p:spPr>
      </p:sp>
      <p:sp>
        <p:nvSpPr>
          <p:cNvPr id="6" name="Text 4"/>
          <p:cNvSpPr txBox="1"/>
          <p:nvPr/>
        </p:nvSpPr>
        <p:spPr>
          <a:xfrm>
            <a:off x="822960" y="1911096"/>
            <a:ext cx="38404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325880" y="1828800"/>
            <a:ext cx="2468880" cy="502920"/>
          </a:xfrm>
          <a:prstGeom prst="rect">
            <a:avLst/>
          </a:prstGeom>
          <a:noFill/>
          <a:ln/>
        </p:spPr>
        <p:txBody>
          <a:bodyPr wrap="square" lIns="0" tIns="0" rIns="0" bIns="0" rtlCol="0" anchor="ctr"/>
          <a:lstStyle/>
          <a:p>
            <a:pPr indent="0" marL="0">
              <a:lnSpc>
                <a:spcPts val="1600"/>
              </a:lnSpc>
              <a:buNone/>
            </a:pPr>
            <a:r>
              <a:rPr lang="en-US" sz="1350" b="1" dirty="0">
                <a:solidFill>
                  <a:srgbClr val="1B3A1C"/>
                </a:solidFill>
                <a:latin typeface="Calibri" pitchFamily="34" charset="0"/>
                <a:ea typeface="Calibri" pitchFamily="34" charset="-122"/>
                <a:cs typeface="Calibri" pitchFamily="34" charset="-120"/>
              </a:rPr>
              <a:t>Farmers &amp;</a:t>
            </a:r>
            <a:endParaRPr lang="en-US" sz="1350" dirty="0"/>
          </a:p>
          <a:p>
            <a:pPr indent="0" marL="0">
              <a:lnSpc>
                <a:spcPts val="1600"/>
              </a:lnSpc>
              <a:buNone/>
            </a:pPr>
            <a:r>
              <a:rPr lang="en-US" sz="1350" b="1" dirty="0">
                <a:solidFill>
                  <a:srgbClr val="1B3A1C"/>
                </a:solidFill>
                <a:latin typeface="Calibri" pitchFamily="34" charset="0"/>
                <a:ea typeface="Calibri" pitchFamily="34" charset="-122"/>
                <a:cs typeface="Calibri" pitchFamily="34" charset="-120"/>
              </a:rPr>
              <a:t>cultivators</a:t>
            </a:r>
            <a:endParaRPr lang="en-US" sz="1350" dirty="0"/>
          </a:p>
        </p:txBody>
      </p:sp>
      <p:sp>
        <p:nvSpPr>
          <p:cNvPr id="8" name="Text 6"/>
          <p:cNvSpPr txBox="1"/>
          <p:nvPr/>
        </p:nvSpPr>
        <p:spPr>
          <a:xfrm>
            <a:off x="822960" y="2423160"/>
            <a:ext cx="2926080" cy="1097280"/>
          </a:xfrm>
          <a:prstGeom prst="rect">
            <a:avLst/>
          </a:prstGeom>
          <a:noFill/>
          <a:ln/>
        </p:spPr>
        <p:txBody>
          <a:bodyPr wrap="square" lIns="0" tIns="0" rIns="0" bIns="0" rtlCol="0" anchor="t"/>
          <a:lstStyle/>
          <a:p>
            <a:pPr indent="0" marL="0">
              <a:lnSpc>
                <a:spcPts val="1450"/>
              </a:lnSpc>
              <a:buNone/>
            </a:pPr>
            <a:r>
              <a:rPr lang="en-US" sz="1150" dirty="0">
                <a:solidFill>
                  <a:srgbClr val="5E6B5A"/>
                </a:solidFill>
                <a:latin typeface="Calibri" pitchFamily="34" charset="0"/>
                <a:ea typeface="Calibri" pitchFamily="34" charset="-122"/>
                <a:cs typeface="Calibri" pitchFamily="34" charset="-120"/>
              </a:rPr>
              <a:t>Decide which crop to sow in which season, and which irrigation method to use — the decisions this analysis most directly informs.</a:t>
            </a:r>
            <a:endParaRPr lang="en-US" sz="1150" dirty="0"/>
          </a:p>
        </p:txBody>
      </p:sp>
      <p:sp>
        <p:nvSpPr>
          <p:cNvPr id="9" name="Shape 7"/>
          <p:cNvSpPr/>
          <p:nvPr/>
        </p:nvSpPr>
        <p:spPr>
          <a:xfrm>
            <a:off x="4343400" y="1600200"/>
            <a:ext cx="3474720" cy="1965960"/>
          </a:xfrm>
          <a:prstGeom prst="roundRect">
            <a:avLst>
              <a:gd name="adj" fmla="val 3721"/>
            </a:avLst>
          </a:prstGeom>
          <a:solidFill>
            <a:srgbClr val="F4F6F0"/>
          </a:solidFill>
          <a:ln w="12700">
            <a:solidFill>
              <a:srgbClr val="E2E7DC"/>
            </a:solidFill>
            <a:prstDash val="solid"/>
          </a:ln>
        </p:spPr>
      </p:sp>
      <p:sp>
        <p:nvSpPr>
          <p:cNvPr id="10" name="Shape 8"/>
          <p:cNvSpPr/>
          <p:nvPr/>
        </p:nvSpPr>
        <p:spPr>
          <a:xfrm>
            <a:off x="4617720" y="1856232"/>
            <a:ext cx="384048" cy="384048"/>
          </a:xfrm>
          <a:prstGeom prst="ellipse">
            <a:avLst/>
          </a:prstGeom>
          <a:solidFill>
            <a:srgbClr val="2C5F2D"/>
          </a:solidFill>
          <a:ln/>
        </p:spPr>
      </p:sp>
      <p:sp>
        <p:nvSpPr>
          <p:cNvPr id="11" name="Text 9"/>
          <p:cNvSpPr txBox="1"/>
          <p:nvPr/>
        </p:nvSpPr>
        <p:spPr>
          <a:xfrm>
            <a:off x="4617720" y="1911096"/>
            <a:ext cx="38404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5120640" y="1828800"/>
            <a:ext cx="2468880" cy="502920"/>
          </a:xfrm>
          <a:prstGeom prst="rect">
            <a:avLst/>
          </a:prstGeom>
          <a:noFill/>
          <a:ln/>
        </p:spPr>
        <p:txBody>
          <a:bodyPr wrap="square" lIns="0" tIns="0" rIns="0" bIns="0" rtlCol="0" anchor="ctr"/>
          <a:lstStyle/>
          <a:p>
            <a:pPr indent="0" marL="0">
              <a:lnSpc>
                <a:spcPts val="1600"/>
              </a:lnSpc>
              <a:buNone/>
            </a:pPr>
            <a:r>
              <a:rPr lang="en-US" sz="1350" b="1" dirty="0">
                <a:solidFill>
                  <a:srgbClr val="1B3A1C"/>
                </a:solidFill>
                <a:latin typeface="Calibri" pitchFamily="34" charset="0"/>
                <a:ea typeface="Calibri" pitchFamily="34" charset="-122"/>
                <a:cs typeface="Calibri" pitchFamily="34" charset="-120"/>
              </a:rPr>
              <a:t>Agricultural</a:t>
            </a:r>
            <a:endParaRPr lang="en-US" sz="1350" dirty="0"/>
          </a:p>
          <a:p>
            <a:pPr indent="0" marL="0">
              <a:lnSpc>
                <a:spcPts val="1600"/>
              </a:lnSpc>
              <a:buNone/>
            </a:pPr>
            <a:r>
              <a:rPr lang="en-US" sz="1350" b="1" dirty="0">
                <a:solidFill>
                  <a:srgbClr val="1B3A1C"/>
                </a:solidFill>
                <a:latin typeface="Calibri" pitchFamily="34" charset="0"/>
                <a:ea typeface="Calibri" pitchFamily="34" charset="-122"/>
                <a:cs typeface="Calibri" pitchFamily="34" charset="-120"/>
              </a:rPr>
              <a:t>cooperatives</a:t>
            </a:r>
            <a:endParaRPr lang="en-US" sz="1350" dirty="0"/>
          </a:p>
        </p:txBody>
      </p:sp>
      <p:sp>
        <p:nvSpPr>
          <p:cNvPr id="13" name="Text 11"/>
          <p:cNvSpPr txBox="1"/>
          <p:nvPr/>
        </p:nvSpPr>
        <p:spPr>
          <a:xfrm>
            <a:off x="4617720" y="2423160"/>
            <a:ext cx="2926080" cy="1097280"/>
          </a:xfrm>
          <a:prstGeom prst="rect">
            <a:avLst/>
          </a:prstGeom>
          <a:noFill/>
          <a:ln/>
        </p:spPr>
        <p:txBody>
          <a:bodyPr wrap="square" lIns="0" tIns="0" rIns="0" bIns="0" rtlCol="0" anchor="t"/>
          <a:lstStyle/>
          <a:p>
            <a:pPr indent="0" marL="0">
              <a:lnSpc>
                <a:spcPts val="1450"/>
              </a:lnSpc>
              <a:buNone/>
            </a:pPr>
            <a:r>
              <a:rPr lang="en-US" sz="1150" dirty="0">
                <a:solidFill>
                  <a:srgbClr val="5E6B5A"/>
                </a:solidFill>
                <a:latin typeface="Calibri" pitchFamily="34" charset="0"/>
                <a:ea typeface="Calibri" pitchFamily="34" charset="-122"/>
                <a:cs typeface="Calibri" pitchFamily="34" charset="-120"/>
              </a:rPr>
              <a:t>Advise member farmers on seasonal planning and negotiate shared irrigation infrastructure investments.</a:t>
            </a:r>
            <a:endParaRPr lang="en-US" sz="1150" dirty="0"/>
          </a:p>
        </p:txBody>
      </p:sp>
      <p:sp>
        <p:nvSpPr>
          <p:cNvPr id="14" name="Shape 12"/>
          <p:cNvSpPr/>
          <p:nvPr/>
        </p:nvSpPr>
        <p:spPr>
          <a:xfrm>
            <a:off x="8138160" y="1600200"/>
            <a:ext cx="3474720" cy="1965960"/>
          </a:xfrm>
          <a:prstGeom prst="roundRect">
            <a:avLst>
              <a:gd name="adj" fmla="val 3721"/>
            </a:avLst>
          </a:prstGeom>
          <a:solidFill>
            <a:srgbClr val="F4F6F0"/>
          </a:solidFill>
          <a:ln w="12700">
            <a:solidFill>
              <a:srgbClr val="E2E7DC"/>
            </a:solidFill>
            <a:prstDash val="solid"/>
          </a:ln>
        </p:spPr>
      </p:sp>
      <p:sp>
        <p:nvSpPr>
          <p:cNvPr id="15" name="Shape 13"/>
          <p:cNvSpPr/>
          <p:nvPr/>
        </p:nvSpPr>
        <p:spPr>
          <a:xfrm>
            <a:off x="8412480" y="1856232"/>
            <a:ext cx="384048" cy="384048"/>
          </a:xfrm>
          <a:prstGeom prst="ellipse">
            <a:avLst/>
          </a:prstGeom>
          <a:solidFill>
            <a:srgbClr val="2C5F2D"/>
          </a:solidFill>
          <a:ln/>
        </p:spPr>
      </p:sp>
      <p:sp>
        <p:nvSpPr>
          <p:cNvPr id="16" name="Text 14"/>
          <p:cNvSpPr txBox="1"/>
          <p:nvPr/>
        </p:nvSpPr>
        <p:spPr>
          <a:xfrm>
            <a:off x="8412480" y="1911096"/>
            <a:ext cx="38404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8915400" y="1828800"/>
            <a:ext cx="2468880" cy="502920"/>
          </a:xfrm>
          <a:prstGeom prst="rect">
            <a:avLst/>
          </a:prstGeom>
          <a:noFill/>
          <a:ln/>
        </p:spPr>
        <p:txBody>
          <a:bodyPr wrap="square" lIns="0" tIns="0" rIns="0" bIns="0" rtlCol="0" anchor="ctr"/>
          <a:lstStyle/>
          <a:p>
            <a:pPr indent="0" marL="0">
              <a:lnSpc>
                <a:spcPts val="1600"/>
              </a:lnSpc>
              <a:buNone/>
            </a:pPr>
            <a:r>
              <a:rPr lang="en-US" sz="1350" b="1" dirty="0">
                <a:solidFill>
                  <a:srgbClr val="1B3A1C"/>
                </a:solidFill>
                <a:latin typeface="Calibri" pitchFamily="34" charset="0"/>
                <a:ea typeface="Calibri" pitchFamily="34" charset="-122"/>
                <a:cs typeface="Calibri" pitchFamily="34" charset="-120"/>
              </a:rPr>
              <a:t>Government &amp;</a:t>
            </a:r>
            <a:endParaRPr lang="en-US" sz="1350" dirty="0"/>
          </a:p>
          <a:p>
            <a:pPr indent="0" marL="0">
              <a:lnSpc>
                <a:spcPts val="1600"/>
              </a:lnSpc>
              <a:buNone/>
            </a:pPr>
            <a:r>
              <a:rPr lang="en-US" sz="1350" b="1" dirty="0">
                <a:solidFill>
                  <a:srgbClr val="1B3A1C"/>
                </a:solidFill>
                <a:latin typeface="Calibri" pitchFamily="34" charset="0"/>
                <a:ea typeface="Calibri" pitchFamily="34" charset="-122"/>
                <a:cs typeface="Calibri" pitchFamily="34" charset="-120"/>
              </a:rPr>
              <a:t>policy planners</a:t>
            </a:r>
            <a:endParaRPr lang="en-US" sz="1350" dirty="0"/>
          </a:p>
        </p:txBody>
      </p:sp>
      <p:sp>
        <p:nvSpPr>
          <p:cNvPr id="18" name="Text 16"/>
          <p:cNvSpPr txBox="1"/>
          <p:nvPr/>
        </p:nvSpPr>
        <p:spPr>
          <a:xfrm>
            <a:off x="8412480" y="2423160"/>
            <a:ext cx="2926080" cy="1097280"/>
          </a:xfrm>
          <a:prstGeom prst="rect">
            <a:avLst/>
          </a:prstGeom>
          <a:noFill/>
          <a:ln/>
        </p:spPr>
        <p:txBody>
          <a:bodyPr wrap="square" lIns="0" tIns="0" rIns="0" bIns="0" rtlCol="0" anchor="t"/>
          <a:lstStyle/>
          <a:p>
            <a:pPr indent="0" marL="0">
              <a:lnSpc>
                <a:spcPts val="1450"/>
              </a:lnSpc>
              <a:buNone/>
            </a:pPr>
            <a:r>
              <a:rPr lang="en-US" sz="1150" dirty="0">
                <a:solidFill>
                  <a:srgbClr val="5E6B5A"/>
                </a:solidFill>
                <a:latin typeface="Calibri" pitchFamily="34" charset="0"/>
                <a:ea typeface="Calibri" pitchFamily="34" charset="-122"/>
                <a:cs typeface="Calibri" pitchFamily="34" charset="-120"/>
              </a:rPr>
              <a:t>Target subsidies, credit and crop insurance at the seasons and regions where farms actually lose money.</a:t>
            </a:r>
            <a:endParaRPr lang="en-US" sz="1150" dirty="0"/>
          </a:p>
        </p:txBody>
      </p:sp>
      <p:sp>
        <p:nvSpPr>
          <p:cNvPr id="19" name="Shape 17"/>
          <p:cNvSpPr/>
          <p:nvPr/>
        </p:nvSpPr>
        <p:spPr>
          <a:xfrm>
            <a:off x="548640" y="3840480"/>
            <a:ext cx="3474720" cy="1965960"/>
          </a:xfrm>
          <a:prstGeom prst="roundRect">
            <a:avLst>
              <a:gd name="adj" fmla="val 3721"/>
            </a:avLst>
          </a:prstGeom>
          <a:solidFill>
            <a:srgbClr val="FFFFFF"/>
          </a:solidFill>
          <a:ln w="12700">
            <a:solidFill>
              <a:srgbClr val="E2E7DC"/>
            </a:solidFill>
            <a:prstDash val="solid"/>
          </a:ln>
        </p:spPr>
      </p:sp>
      <p:sp>
        <p:nvSpPr>
          <p:cNvPr id="20" name="Shape 18"/>
          <p:cNvSpPr/>
          <p:nvPr/>
        </p:nvSpPr>
        <p:spPr>
          <a:xfrm>
            <a:off x="822960" y="4096512"/>
            <a:ext cx="384048" cy="384048"/>
          </a:xfrm>
          <a:prstGeom prst="ellipse">
            <a:avLst/>
          </a:prstGeom>
          <a:solidFill>
            <a:srgbClr val="2C5F2D"/>
          </a:solidFill>
          <a:ln/>
        </p:spPr>
      </p:sp>
      <p:sp>
        <p:nvSpPr>
          <p:cNvPr id="21" name="Text 19"/>
          <p:cNvSpPr txBox="1"/>
          <p:nvPr/>
        </p:nvSpPr>
        <p:spPr>
          <a:xfrm>
            <a:off x="822960" y="4151376"/>
            <a:ext cx="38404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1325880" y="4069080"/>
            <a:ext cx="2468880" cy="502920"/>
          </a:xfrm>
          <a:prstGeom prst="rect">
            <a:avLst/>
          </a:prstGeom>
          <a:noFill/>
          <a:ln/>
        </p:spPr>
        <p:txBody>
          <a:bodyPr wrap="square" lIns="0" tIns="0" rIns="0" bIns="0" rtlCol="0" anchor="ctr"/>
          <a:lstStyle/>
          <a:p>
            <a:pPr indent="0" marL="0">
              <a:lnSpc>
                <a:spcPts val="1600"/>
              </a:lnSpc>
              <a:buNone/>
            </a:pPr>
            <a:r>
              <a:rPr lang="en-US" sz="1350" b="1" dirty="0">
                <a:solidFill>
                  <a:srgbClr val="1B3A1C"/>
                </a:solidFill>
                <a:latin typeface="Calibri" pitchFamily="34" charset="0"/>
                <a:ea typeface="Calibri" pitchFamily="34" charset="-122"/>
                <a:cs typeface="Calibri" pitchFamily="34" charset="-120"/>
              </a:rPr>
              <a:t>Agri-input</a:t>
            </a:r>
            <a:endParaRPr lang="en-US" sz="1350" dirty="0"/>
          </a:p>
          <a:p>
            <a:pPr indent="0" marL="0">
              <a:lnSpc>
                <a:spcPts val="1600"/>
              </a:lnSpc>
              <a:buNone/>
            </a:pPr>
            <a:r>
              <a:rPr lang="en-US" sz="1350" b="1" dirty="0">
                <a:solidFill>
                  <a:srgbClr val="1B3A1C"/>
                </a:solidFill>
                <a:latin typeface="Calibri" pitchFamily="34" charset="0"/>
                <a:ea typeface="Calibri" pitchFamily="34" charset="-122"/>
                <a:cs typeface="Calibri" pitchFamily="34" charset="-120"/>
              </a:rPr>
              <a:t>companies</a:t>
            </a:r>
            <a:endParaRPr lang="en-US" sz="1350" dirty="0"/>
          </a:p>
        </p:txBody>
      </p:sp>
      <p:sp>
        <p:nvSpPr>
          <p:cNvPr id="23" name="Text 21"/>
          <p:cNvSpPr txBox="1"/>
          <p:nvPr/>
        </p:nvSpPr>
        <p:spPr>
          <a:xfrm>
            <a:off x="822960" y="4663440"/>
            <a:ext cx="2926080" cy="1097280"/>
          </a:xfrm>
          <a:prstGeom prst="rect">
            <a:avLst/>
          </a:prstGeom>
          <a:noFill/>
          <a:ln/>
        </p:spPr>
        <p:txBody>
          <a:bodyPr wrap="square" lIns="0" tIns="0" rIns="0" bIns="0" rtlCol="0" anchor="t"/>
          <a:lstStyle/>
          <a:p>
            <a:pPr indent="0" marL="0">
              <a:lnSpc>
                <a:spcPts val="1450"/>
              </a:lnSpc>
              <a:buNone/>
            </a:pPr>
            <a:r>
              <a:rPr lang="en-US" sz="1150" dirty="0">
                <a:solidFill>
                  <a:srgbClr val="5E6B5A"/>
                </a:solidFill>
                <a:latin typeface="Calibri" pitchFamily="34" charset="0"/>
                <a:ea typeface="Calibri" pitchFamily="34" charset="-122"/>
                <a:cs typeface="Calibri" pitchFamily="34" charset="-120"/>
              </a:rPr>
              <a:t>Align fertiliser, seed and crop-protection supply with genuine seasonal demand rather than a flat annual plan.</a:t>
            </a:r>
            <a:endParaRPr lang="en-US" sz="1150" dirty="0"/>
          </a:p>
        </p:txBody>
      </p:sp>
      <p:sp>
        <p:nvSpPr>
          <p:cNvPr id="24" name="Shape 22"/>
          <p:cNvSpPr/>
          <p:nvPr/>
        </p:nvSpPr>
        <p:spPr>
          <a:xfrm>
            <a:off x="4343400" y="3840480"/>
            <a:ext cx="3474720" cy="1965960"/>
          </a:xfrm>
          <a:prstGeom prst="roundRect">
            <a:avLst>
              <a:gd name="adj" fmla="val 3721"/>
            </a:avLst>
          </a:prstGeom>
          <a:solidFill>
            <a:srgbClr val="FFFFFF"/>
          </a:solidFill>
          <a:ln w="12700">
            <a:solidFill>
              <a:srgbClr val="E2E7DC"/>
            </a:solidFill>
            <a:prstDash val="solid"/>
          </a:ln>
        </p:spPr>
      </p:sp>
      <p:sp>
        <p:nvSpPr>
          <p:cNvPr id="25" name="Shape 23"/>
          <p:cNvSpPr/>
          <p:nvPr/>
        </p:nvSpPr>
        <p:spPr>
          <a:xfrm>
            <a:off x="4617720" y="4096512"/>
            <a:ext cx="384048" cy="384048"/>
          </a:xfrm>
          <a:prstGeom prst="ellipse">
            <a:avLst/>
          </a:prstGeom>
          <a:solidFill>
            <a:srgbClr val="2C5F2D"/>
          </a:solidFill>
          <a:ln/>
        </p:spPr>
      </p:sp>
      <p:sp>
        <p:nvSpPr>
          <p:cNvPr id="26" name="Text 24"/>
          <p:cNvSpPr txBox="1"/>
          <p:nvPr/>
        </p:nvSpPr>
        <p:spPr>
          <a:xfrm>
            <a:off x="4617720" y="4151376"/>
            <a:ext cx="38404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5120640" y="4069080"/>
            <a:ext cx="2468880" cy="502920"/>
          </a:xfrm>
          <a:prstGeom prst="rect">
            <a:avLst/>
          </a:prstGeom>
          <a:noFill/>
          <a:ln/>
        </p:spPr>
        <p:txBody>
          <a:bodyPr wrap="square" lIns="0" tIns="0" rIns="0" bIns="0" rtlCol="0" anchor="ctr"/>
          <a:lstStyle/>
          <a:p>
            <a:pPr indent="0" marL="0">
              <a:lnSpc>
                <a:spcPts val="1600"/>
              </a:lnSpc>
              <a:buNone/>
            </a:pPr>
            <a:r>
              <a:rPr lang="en-US" sz="1350" b="1" dirty="0">
                <a:solidFill>
                  <a:srgbClr val="1B3A1C"/>
                </a:solidFill>
                <a:latin typeface="Calibri" pitchFamily="34" charset="0"/>
                <a:ea typeface="Calibri" pitchFamily="34" charset="-122"/>
                <a:cs typeface="Calibri" pitchFamily="34" charset="-120"/>
              </a:rPr>
              <a:t>Banks &amp;</a:t>
            </a:r>
            <a:endParaRPr lang="en-US" sz="1350" dirty="0"/>
          </a:p>
          <a:p>
            <a:pPr indent="0" marL="0">
              <a:lnSpc>
                <a:spcPts val="1600"/>
              </a:lnSpc>
              <a:buNone/>
            </a:pPr>
            <a:r>
              <a:rPr lang="en-US" sz="1350" b="1" dirty="0">
                <a:solidFill>
                  <a:srgbClr val="1B3A1C"/>
                </a:solidFill>
                <a:latin typeface="Calibri" pitchFamily="34" charset="0"/>
                <a:ea typeface="Calibri" pitchFamily="34" charset="-122"/>
                <a:cs typeface="Calibri" pitchFamily="34" charset="-120"/>
              </a:rPr>
              <a:t>insurers</a:t>
            </a:r>
            <a:endParaRPr lang="en-US" sz="1350" dirty="0"/>
          </a:p>
        </p:txBody>
      </p:sp>
      <p:sp>
        <p:nvSpPr>
          <p:cNvPr id="28" name="Text 26"/>
          <p:cNvSpPr txBox="1"/>
          <p:nvPr/>
        </p:nvSpPr>
        <p:spPr>
          <a:xfrm>
            <a:off x="4617720" y="4663440"/>
            <a:ext cx="2926080" cy="1097280"/>
          </a:xfrm>
          <a:prstGeom prst="rect">
            <a:avLst/>
          </a:prstGeom>
          <a:noFill/>
          <a:ln/>
        </p:spPr>
        <p:txBody>
          <a:bodyPr wrap="square" lIns="0" tIns="0" rIns="0" bIns="0" rtlCol="0" anchor="t"/>
          <a:lstStyle/>
          <a:p>
            <a:pPr indent="0" marL="0">
              <a:lnSpc>
                <a:spcPts val="1450"/>
              </a:lnSpc>
              <a:buNone/>
            </a:pPr>
            <a:r>
              <a:rPr lang="en-US" sz="1150" dirty="0">
                <a:solidFill>
                  <a:srgbClr val="5E6B5A"/>
                </a:solidFill>
                <a:latin typeface="Calibri" pitchFamily="34" charset="0"/>
                <a:ea typeface="Calibri" pitchFamily="34" charset="-122"/>
                <a:cs typeface="Calibri" pitchFamily="34" charset="-120"/>
              </a:rPr>
              <a:t>Price seasonal credit and crop insurance against measured risk instead of uniform assumptions.</a:t>
            </a:r>
            <a:endParaRPr lang="en-US" sz="1150" dirty="0"/>
          </a:p>
        </p:txBody>
      </p:sp>
      <p:sp>
        <p:nvSpPr>
          <p:cNvPr id="29" name="Shape 27"/>
          <p:cNvSpPr/>
          <p:nvPr/>
        </p:nvSpPr>
        <p:spPr>
          <a:xfrm>
            <a:off x="8138160" y="3840480"/>
            <a:ext cx="3474720" cy="1965960"/>
          </a:xfrm>
          <a:prstGeom prst="roundRect">
            <a:avLst>
              <a:gd name="adj" fmla="val 3721"/>
            </a:avLst>
          </a:prstGeom>
          <a:solidFill>
            <a:srgbClr val="FFFFFF"/>
          </a:solidFill>
          <a:ln w="12700">
            <a:solidFill>
              <a:srgbClr val="E2E7DC"/>
            </a:solidFill>
            <a:prstDash val="solid"/>
          </a:ln>
        </p:spPr>
      </p:sp>
      <p:sp>
        <p:nvSpPr>
          <p:cNvPr id="30" name="Shape 28"/>
          <p:cNvSpPr/>
          <p:nvPr/>
        </p:nvSpPr>
        <p:spPr>
          <a:xfrm>
            <a:off x="8412480" y="4096512"/>
            <a:ext cx="384048" cy="384048"/>
          </a:xfrm>
          <a:prstGeom prst="ellipse">
            <a:avLst/>
          </a:prstGeom>
          <a:solidFill>
            <a:srgbClr val="2C5F2D"/>
          </a:solidFill>
          <a:ln/>
        </p:spPr>
      </p:sp>
      <p:sp>
        <p:nvSpPr>
          <p:cNvPr id="31" name="Text 29"/>
          <p:cNvSpPr txBox="1"/>
          <p:nvPr/>
        </p:nvSpPr>
        <p:spPr>
          <a:xfrm>
            <a:off x="8412480" y="4151376"/>
            <a:ext cx="38404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txBox="1"/>
          <p:nvPr/>
        </p:nvSpPr>
        <p:spPr>
          <a:xfrm>
            <a:off x="8915400" y="4069080"/>
            <a:ext cx="2468880" cy="502920"/>
          </a:xfrm>
          <a:prstGeom prst="rect">
            <a:avLst/>
          </a:prstGeom>
          <a:noFill/>
          <a:ln/>
        </p:spPr>
        <p:txBody>
          <a:bodyPr wrap="square" lIns="0" tIns="0" rIns="0" bIns="0" rtlCol="0" anchor="ctr"/>
          <a:lstStyle/>
          <a:p>
            <a:pPr indent="0" marL="0">
              <a:lnSpc>
                <a:spcPts val="1600"/>
              </a:lnSpc>
              <a:buNone/>
            </a:pPr>
            <a:r>
              <a:rPr lang="en-US" sz="1350" b="1" dirty="0">
                <a:solidFill>
                  <a:srgbClr val="1B3A1C"/>
                </a:solidFill>
                <a:latin typeface="Calibri" pitchFamily="34" charset="0"/>
                <a:ea typeface="Calibri" pitchFamily="34" charset="-122"/>
                <a:cs typeface="Calibri" pitchFamily="34" charset="-120"/>
              </a:rPr>
              <a:t>Researchers &amp;</a:t>
            </a:r>
            <a:endParaRPr lang="en-US" sz="1350" dirty="0"/>
          </a:p>
          <a:p>
            <a:pPr indent="0" marL="0">
              <a:lnSpc>
                <a:spcPts val="1600"/>
              </a:lnSpc>
              <a:buNone/>
            </a:pPr>
            <a:r>
              <a:rPr lang="en-US" sz="1350" b="1" dirty="0">
                <a:solidFill>
                  <a:srgbClr val="1B3A1C"/>
                </a:solidFill>
                <a:latin typeface="Calibri" pitchFamily="34" charset="0"/>
                <a:ea typeface="Calibri" pitchFamily="34" charset="-122"/>
                <a:cs typeface="Calibri" pitchFamily="34" charset="-120"/>
              </a:rPr>
              <a:t>agronomists</a:t>
            </a:r>
            <a:endParaRPr lang="en-US" sz="1350" dirty="0"/>
          </a:p>
        </p:txBody>
      </p:sp>
      <p:sp>
        <p:nvSpPr>
          <p:cNvPr id="33" name="Text 31"/>
          <p:cNvSpPr txBox="1"/>
          <p:nvPr/>
        </p:nvSpPr>
        <p:spPr>
          <a:xfrm>
            <a:off x="8412480" y="4663440"/>
            <a:ext cx="2926080" cy="1097280"/>
          </a:xfrm>
          <a:prstGeom prst="rect">
            <a:avLst/>
          </a:prstGeom>
          <a:noFill/>
          <a:ln/>
        </p:spPr>
        <p:txBody>
          <a:bodyPr wrap="square" lIns="0" tIns="0" rIns="0" bIns="0" rtlCol="0" anchor="t"/>
          <a:lstStyle/>
          <a:p>
            <a:pPr indent="0" marL="0">
              <a:lnSpc>
                <a:spcPts val="1450"/>
              </a:lnSpc>
              <a:buNone/>
            </a:pPr>
            <a:r>
              <a:rPr lang="en-US" sz="1150" dirty="0">
                <a:solidFill>
                  <a:srgbClr val="5E6B5A"/>
                </a:solidFill>
                <a:latin typeface="Calibri" pitchFamily="34" charset="0"/>
                <a:ea typeface="Calibri" pitchFamily="34" charset="-122"/>
                <a:cs typeface="Calibri" pitchFamily="34" charset="-120"/>
              </a:rPr>
              <a:t>Use the seasonal baselines here as a reference point for field trials and further study.</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9260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TOOLS &amp; METHODS</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200" b="1" dirty="0">
                <a:solidFill>
                  <a:srgbClr val="1B3A1C"/>
                </a:solidFill>
                <a:latin typeface="Cambria" pitchFamily="34" charset="0"/>
                <a:ea typeface="Cambria" pitchFamily="34" charset="-122"/>
                <a:cs typeface="Cambria" pitchFamily="34" charset="-120"/>
              </a:rPr>
              <a:t>Technology Used</a:t>
            </a:r>
            <a:endParaRPr lang="en-US" sz="3200" dirty="0"/>
          </a:p>
        </p:txBody>
      </p:sp>
      <p:sp>
        <p:nvSpPr>
          <p:cNvPr id="4" name="Shape 2"/>
          <p:cNvSpPr/>
          <p:nvPr/>
        </p:nvSpPr>
        <p:spPr>
          <a:xfrm>
            <a:off x="548640" y="1508760"/>
            <a:ext cx="2926080" cy="713232"/>
          </a:xfrm>
          <a:prstGeom prst="roundRect">
            <a:avLst>
              <a:gd name="adj" fmla="val 7692"/>
            </a:avLst>
          </a:prstGeom>
          <a:solidFill>
            <a:srgbClr val="F4F6F0"/>
          </a:solidFill>
          <a:ln w="12700">
            <a:solidFill>
              <a:srgbClr val="E2E7DC"/>
            </a:solidFill>
            <a:prstDash val="solid"/>
          </a:ln>
        </p:spPr>
      </p:sp>
      <p:sp>
        <p:nvSpPr>
          <p:cNvPr id="5" name="Text 3"/>
          <p:cNvSpPr txBox="1"/>
          <p:nvPr/>
        </p:nvSpPr>
        <p:spPr>
          <a:xfrm>
            <a:off x="777240" y="1600200"/>
            <a:ext cx="2468880" cy="27432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Python 3</a:t>
            </a:r>
            <a:endParaRPr lang="en-US" sz="1300" dirty="0"/>
          </a:p>
        </p:txBody>
      </p:sp>
      <p:sp>
        <p:nvSpPr>
          <p:cNvPr id="6" name="Text 4"/>
          <p:cNvSpPr txBox="1"/>
          <p:nvPr/>
        </p:nvSpPr>
        <p:spPr>
          <a:xfrm>
            <a:off x="777240" y="1874520"/>
            <a:ext cx="2560320" cy="256032"/>
          </a:xfrm>
          <a:prstGeom prst="rect">
            <a:avLst/>
          </a:prstGeom>
          <a:noFill/>
          <a:ln/>
        </p:spPr>
        <p:txBody>
          <a:bodyPr wrap="square" lIns="0" tIns="0" rIns="0" bIns="0" rtlCol="0" anchor="ctr"/>
          <a:lstStyle/>
          <a:p>
            <a:pPr indent="0" marL="0">
              <a:buNone/>
            </a:pPr>
            <a:r>
              <a:rPr lang="en-US" sz="1050" dirty="0">
                <a:solidFill>
                  <a:srgbClr val="5E6B5A"/>
                </a:solidFill>
                <a:latin typeface="Calibri" pitchFamily="34" charset="0"/>
                <a:ea typeface="Calibri" pitchFamily="34" charset="-122"/>
                <a:cs typeface="Calibri" pitchFamily="34" charset="-120"/>
              </a:rPr>
              <a:t>Core analysis language</a:t>
            </a:r>
            <a:endParaRPr lang="en-US" sz="1050" dirty="0"/>
          </a:p>
        </p:txBody>
      </p:sp>
      <p:sp>
        <p:nvSpPr>
          <p:cNvPr id="7" name="Shape 5"/>
          <p:cNvSpPr/>
          <p:nvPr/>
        </p:nvSpPr>
        <p:spPr>
          <a:xfrm>
            <a:off x="3749040" y="1508760"/>
            <a:ext cx="2926080" cy="713232"/>
          </a:xfrm>
          <a:prstGeom prst="roundRect">
            <a:avLst>
              <a:gd name="adj" fmla="val 7692"/>
            </a:avLst>
          </a:prstGeom>
          <a:solidFill>
            <a:srgbClr val="F4F6F0"/>
          </a:solidFill>
          <a:ln w="12700">
            <a:solidFill>
              <a:srgbClr val="E2E7DC"/>
            </a:solidFill>
            <a:prstDash val="solid"/>
          </a:ln>
        </p:spPr>
      </p:sp>
      <p:sp>
        <p:nvSpPr>
          <p:cNvPr id="8" name="Text 6"/>
          <p:cNvSpPr txBox="1"/>
          <p:nvPr/>
        </p:nvSpPr>
        <p:spPr>
          <a:xfrm>
            <a:off x="3977640" y="1600200"/>
            <a:ext cx="2468880" cy="27432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pandas</a:t>
            </a:r>
            <a:endParaRPr lang="en-US" sz="1300" dirty="0"/>
          </a:p>
        </p:txBody>
      </p:sp>
      <p:sp>
        <p:nvSpPr>
          <p:cNvPr id="9" name="Text 7"/>
          <p:cNvSpPr txBox="1"/>
          <p:nvPr/>
        </p:nvSpPr>
        <p:spPr>
          <a:xfrm>
            <a:off x="3977640" y="1874520"/>
            <a:ext cx="2560320" cy="256032"/>
          </a:xfrm>
          <a:prstGeom prst="rect">
            <a:avLst/>
          </a:prstGeom>
          <a:noFill/>
          <a:ln/>
        </p:spPr>
        <p:txBody>
          <a:bodyPr wrap="square" lIns="0" tIns="0" rIns="0" bIns="0" rtlCol="0" anchor="ctr"/>
          <a:lstStyle/>
          <a:p>
            <a:pPr indent="0" marL="0">
              <a:buNone/>
            </a:pPr>
            <a:r>
              <a:rPr lang="en-US" sz="1050" dirty="0">
                <a:solidFill>
                  <a:srgbClr val="5E6B5A"/>
                </a:solidFill>
                <a:latin typeface="Calibri" pitchFamily="34" charset="0"/>
                <a:ea typeface="Calibri" pitchFamily="34" charset="-122"/>
                <a:cs typeface="Calibri" pitchFamily="34" charset="-120"/>
              </a:rPr>
              <a:t>Data cleaning, grouping, pivot tables</a:t>
            </a:r>
            <a:endParaRPr lang="en-US" sz="1050" dirty="0"/>
          </a:p>
        </p:txBody>
      </p:sp>
      <p:sp>
        <p:nvSpPr>
          <p:cNvPr id="10" name="Shape 8"/>
          <p:cNvSpPr/>
          <p:nvPr/>
        </p:nvSpPr>
        <p:spPr>
          <a:xfrm>
            <a:off x="548640" y="2377440"/>
            <a:ext cx="2926080" cy="713232"/>
          </a:xfrm>
          <a:prstGeom prst="roundRect">
            <a:avLst>
              <a:gd name="adj" fmla="val 7692"/>
            </a:avLst>
          </a:prstGeom>
          <a:solidFill>
            <a:srgbClr val="F4F6F0"/>
          </a:solidFill>
          <a:ln w="12700">
            <a:solidFill>
              <a:srgbClr val="E2E7DC"/>
            </a:solidFill>
            <a:prstDash val="solid"/>
          </a:ln>
        </p:spPr>
      </p:sp>
      <p:sp>
        <p:nvSpPr>
          <p:cNvPr id="11" name="Text 9"/>
          <p:cNvSpPr txBox="1"/>
          <p:nvPr/>
        </p:nvSpPr>
        <p:spPr>
          <a:xfrm>
            <a:off x="777240" y="2468880"/>
            <a:ext cx="2468880" cy="27432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NumPy</a:t>
            </a:r>
            <a:endParaRPr lang="en-US" sz="1300" dirty="0"/>
          </a:p>
        </p:txBody>
      </p:sp>
      <p:sp>
        <p:nvSpPr>
          <p:cNvPr id="12" name="Text 10"/>
          <p:cNvSpPr txBox="1"/>
          <p:nvPr/>
        </p:nvSpPr>
        <p:spPr>
          <a:xfrm>
            <a:off x="777240" y="2743200"/>
            <a:ext cx="2560320" cy="256032"/>
          </a:xfrm>
          <a:prstGeom prst="rect">
            <a:avLst/>
          </a:prstGeom>
          <a:noFill/>
          <a:ln/>
        </p:spPr>
        <p:txBody>
          <a:bodyPr wrap="square" lIns="0" tIns="0" rIns="0" bIns="0" rtlCol="0" anchor="ctr"/>
          <a:lstStyle/>
          <a:p>
            <a:pPr indent="0" marL="0">
              <a:buNone/>
            </a:pPr>
            <a:r>
              <a:rPr lang="en-US" sz="1050" dirty="0">
                <a:solidFill>
                  <a:srgbClr val="5E6B5A"/>
                </a:solidFill>
                <a:latin typeface="Calibri" pitchFamily="34" charset="0"/>
                <a:ea typeface="Calibri" pitchFamily="34" charset="-122"/>
                <a:cs typeface="Calibri" pitchFamily="34" charset="-120"/>
              </a:rPr>
              <a:t>Numerical operations and array maths</a:t>
            </a:r>
            <a:endParaRPr lang="en-US" sz="1050" dirty="0"/>
          </a:p>
        </p:txBody>
      </p:sp>
      <p:sp>
        <p:nvSpPr>
          <p:cNvPr id="13" name="Shape 11"/>
          <p:cNvSpPr/>
          <p:nvPr/>
        </p:nvSpPr>
        <p:spPr>
          <a:xfrm>
            <a:off x="3749040" y="2377440"/>
            <a:ext cx="2926080" cy="713232"/>
          </a:xfrm>
          <a:prstGeom prst="roundRect">
            <a:avLst>
              <a:gd name="adj" fmla="val 7692"/>
            </a:avLst>
          </a:prstGeom>
          <a:solidFill>
            <a:srgbClr val="F4F6F0"/>
          </a:solidFill>
          <a:ln w="12700">
            <a:solidFill>
              <a:srgbClr val="E2E7DC"/>
            </a:solidFill>
            <a:prstDash val="solid"/>
          </a:ln>
        </p:spPr>
      </p:sp>
      <p:sp>
        <p:nvSpPr>
          <p:cNvPr id="14" name="Text 12"/>
          <p:cNvSpPr txBox="1"/>
          <p:nvPr/>
        </p:nvSpPr>
        <p:spPr>
          <a:xfrm>
            <a:off x="3977640" y="2468880"/>
            <a:ext cx="2468880" cy="27432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Matplotlib</a:t>
            </a:r>
            <a:endParaRPr lang="en-US" sz="1300" dirty="0"/>
          </a:p>
        </p:txBody>
      </p:sp>
      <p:sp>
        <p:nvSpPr>
          <p:cNvPr id="15" name="Text 13"/>
          <p:cNvSpPr txBox="1"/>
          <p:nvPr/>
        </p:nvSpPr>
        <p:spPr>
          <a:xfrm>
            <a:off x="3977640" y="2743200"/>
            <a:ext cx="2560320" cy="256032"/>
          </a:xfrm>
          <a:prstGeom prst="rect">
            <a:avLst/>
          </a:prstGeom>
          <a:noFill/>
          <a:ln/>
        </p:spPr>
        <p:txBody>
          <a:bodyPr wrap="square" lIns="0" tIns="0" rIns="0" bIns="0" rtlCol="0" anchor="ctr"/>
          <a:lstStyle/>
          <a:p>
            <a:pPr indent="0" marL="0">
              <a:buNone/>
            </a:pPr>
            <a:r>
              <a:rPr lang="en-US" sz="1050" dirty="0">
                <a:solidFill>
                  <a:srgbClr val="5E6B5A"/>
                </a:solidFill>
                <a:latin typeface="Calibri" pitchFamily="34" charset="0"/>
                <a:ea typeface="Calibri" pitchFamily="34" charset="-122"/>
                <a:cs typeface="Calibri" pitchFamily="34" charset="-120"/>
              </a:rPr>
              <a:t>Charting and figure composition</a:t>
            </a:r>
            <a:endParaRPr lang="en-US" sz="1050" dirty="0"/>
          </a:p>
        </p:txBody>
      </p:sp>
      <p:sp>
        <p:nvSpPr>
          <p:cNvPr id="16" name="Shape 14"/>
          <p:cNvSpPr/>
          <p:nvPr/>
        </p:nvSpPr>
        <p:spPr>
          <a:xfrm>
            <a:off x="548640" y="3246120"/>
            <a:ext cx="2926080" cy="713232"/>
          </a:xfrm>
          <a:prstGeom prst="roundRect">
            <a:avLst>
              <a:gd name="adj" fmla="val 7692"/>
            </a:avLst>
          </a:prstGeom>
          <a:solidFill>
            <a:srgbClr val="F4F6F0"/>
          </a:solidFill>
          <a:ln w="12700">
            <a:solidFill>
              <a:srgbClr val="E2E7DC"/>
            </a:solidFill>
            <a:prstDash val="solid"/>
          </a:ln>
        </p:spPr>
      </p:sp>
      <p:sp>
        <p:nvSpPr>
          <p:cNvPr id="17" name="Text 15"/>
          <p:cNvSpPr txBox="1"/>
          <p:nvPr/>
        </p:nvSpPr>
        <p:spPr>
          <a:xfrm>
            <a:off x="777240" y="3337560"/>
            <a:ext cx="2468880" cy="27432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Seaborn</a:t>
            </a:r>
            <a:endParaRPr lang="en-US" sz="1300" dirty="0"/>
          </a:p>
        </p:txBody>
      </p:sp>
      <p:sp>
        <p:nvSpPr>
          <p:cNvPr id="18" name="Text 16"/>
          <p:cNvSpPr txBox="1"/>
          <p:nvPr/>
        </p:nvSpPr>
        <p:spPr>
          <a:xfrm>
            <a:off x="777240" y="3611880"/>
            <a:ext cx="2560320" cy="256032"/>
          </a:xfrm>
          <a:prstGeom prst="rect">
            <a:avLst/>
          </a:prstGeom>
          <a:noFill/>
          <a:ln/>
        </p:spPr>
        <p:txBody>
          <a:bodyPr wrap="square" lIns="0" tIns="0" rIns="0" bIns="0" rtlCol="0" anchor="ctr"/>
          <a:lstStyle/>
          <a:p>
            <a:pPr indent="0" marL="0">
              <a:buNone/>
            </a:pPr>
            <a:r>
              <a:rPr lang="en-US" sz="1050" dirty="0">
                <a:solidFill>
                  <a:srgbClr val="5E6B5A"/>
                </a:solidFill>
                <a:latin typeface="Calibri" pitchFamily="34" charset="0"/>
                <a:ea typeface="Calibri" pitchFamily="34" charset="-122"/>
                <a:cs typeface="Calibri" pitchFamily="34" charset="-120"/>
              </a:rPr>
              <a:t>Statistical plots and heatmaps</a:t>
            </a:r>
            <a:endParaRPr lang="en-US" sz="1050" dirty="0"/>
          </a:p>
        </p:txBody>
      </p:sp>
      <p:sp>
        <p:nvSpPr>
          <p:cNvPr id="19" name="Shape 17"/>
          <p:cNvSpPr/>
          <p:nvPr/>
        </p:nvSpPr>
        <p:spPr>
          <a:xfrm>
            <a:off x="3749040" y="3246120"/>
            <a:ext cx="2926080" cy="713232"/>
          </a:xfrm>
          <a:prstGeom prst="roundRect">
            <a:avLst>
              <a:gd name="adj" fmla="val 7692"/>
            </a:avLst>
          </a:prstGeom>
          <a:solidFill>
            <a:srgbClr val="F4F6F0"/>
          </a:solidFill>
          <a:ln w="12700">
            <a:solidFill>
              <a:srgbClr val="E2E7DC"/>
            </a:solidFill>
            <a:prstDash val="solid"/>
          </a:ln>
        </p:spPr>
      </p:sp>
      <p:sp>
        <p:nvSpPr>
          <p:cNvPr id="20" name="Text 18"/>
          <p:cNvSpPr txBox="1"/>
          <p:nvPr/>
        </p:nvSpPr>
        <p:spPr>
          <a:xfrm>
            <a:off x="3977640" y="3337560"/>
            <a:ext cx="2468880" cy="27432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SciPy</a:t>
            </a:r>
            <a:endParaRPr lang="en-US" sz="1300" dirty="0"/>
          </a:p>
        </p:txBody>
      </p:sp>
      <p:sp>
        <p:nvSpPr>
          <p:cNvPr id="21" name="Text 19"/>
          <p:cNvSpPr txBox="1"/>
          <p:nvPr/>
        </p:nvSpPr>
        <p:spPr>
          <a:xfrm>
            <a:off x="3977640" y="3611880"/>
            <a:ext cx="2560320" cy="256032"/>
          </a:xfrm>
          <a:prstGeom prst="rect">
            <a:avLst/>
          </a:prstGeom>
          <a:noFill/>
          <a:ln/>
        </p:spPr>
        <p:txBody>
          <a:bodyPr wrap="square" lIns="0" tIns="0" rIns="0" bIns="0" rtlCol="0" anchor="ctr"/>
          <a:lstStyle/>
          <a:p>
            <a:pPr indent="0" marL="0">
              <a:buNone/>
            </a:pPr>
            <a:r>
              <a:rPr lang="en-US" sz="1050" dirty="0">
                <a:solidFill>
                  <a:srgbClr val="5E6B5A"/>
                </a:solidFill>
                <a:latin typeface="Calibri" pitchFamily="34" charset="0"/>
                <a:ea typeface="Calibri" pitchFamily="34" charset="-122"/>
                <a:cs typeface="Calibri" pitchFamily="34" charset="-120"/>
              </a:rPr>
              <a:t>ANOVA, t-tests, chi-square</a:t>
            </a:r>
            <a:endParaRPr lang="en-US" sz="1050" dirty="0"/>
          </a:p>
        </p:txBody>
      </p:sp>
      <p:sp>
        <p:nvSpPr>
          <p:cNvPr id="22" name="Shape 20"/>
          <p:cNvSpPr/>
          <p:nvPr/>
        </p:nvSpPr>
        <p:spPr>
          <a:xfrm>
            <a:off x="548640" y="4114800"/>
            <a:ext cx="2926080" cy="713232"/>
          </a:xfrm>
          <a:prstGeom prst="roundRect">
            <a:avLst>
              <a:gd name="adj" fmla="val 7692"/>
            </a:avLst>
          </a:prstGeom>
          <a:solidFill>
            <a:srgbClr val="F4F6F0"/>
          </a:solidFill>
          <a:ln w="12700">
            <a:solidFill>
              <a:srgbClr val="E2E7DC"/>
            </a:solidFill>
            <a:prstDash val="solid"/>
          </a:ln>
        </p:spPr>
      </p:sp>
      <p:sp>
        <p:nvSpPr>
          <p:cNvPr id="23" name="Text 21"/>
          <p:cNvSpPr txBox="1"/>
          <p:nvPr/>
        </p:nvSpPr>
        <p:spPr>
          <a:xfrm>
            <a:off x="777240" y="4206240"/>
            <a:ext cx="2468880" cy="27432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Jupyter Notebook</a:t>
            </a:r>
            <a:endParaRPr lang="en-US" sz="1300" dirty="0"/>
          </a:p>
        </p:txBody>
      </p:sp>
      <p:sp>
        <p:nvSpPr>
          <p:cNvPr id="24" name="Text 22"/>
          <p:cNvSpPr txBox="1"/>
          <p:nvPr/>
        </p:nvSpPr>
        <p:spPr>
          <a:xfrm>
            <a:off x="777240" y="4480560"/>
            <a:ext cx="2560320" cy="256032"/>
          </a:xfrm>
          <a:prstGeom prst="rect">
            <a:avLst/>
          </a:prstGeom>
          <a:noFill/>
          <a:ln/>
        </p:spPr>
        <p:txBody>
          <a:bodyPr wrap="square" lIns="0" tIns="0" rIns="0" bIns="0" rtlCol="0" anchor="ctr"/>
          <a:lstStyle/>
          <a:p>
            <a:pPr indent="0" marL="0">
              <a:buNone/>
            </a:pPr>
            <a:r>
              <a:rPr lang="en-US" sz="1050" dirty="0">
                <a:solidFill>
                  <a:srgbClr val="5E6B5A"/>
                </a:solidFill>
                <a:latin typeface="Calibri" pitchFamily="34" charset="0"/>
                <a:ea typeface="Calibri" pitchFamily="34" charset="-122"/>
                <a:cs typeface="Calibri" pitchFamily="34" charset="-120"/>
              </a:rPr>
              <a:t>Reproducible analysis document</a:t>
            </a:r>
            <a:endParaRPr lang="en-US" sz="1050" dirty="0"/>
          </a:p>
        </p:txBody>
      </p:sp>
      <p:sp>
        <p:nvSpPr>
          <p:cNvPr id="25" name="Shape 23"/>
          <p:cNvSpPr/>
          <p:nvPr/>
        </p:nvSpPr>
        <p:spPr>
          <a:xfrm>
            <a:off x="3749040" y="4114800"/>
            <a:ext cx="2926080" cy="713232"/>
          </a:xfrm>
          <a:prstGeom prst="roundRect">
            <a:avLst>
              <a:gd name="adj" fmla="val 7692"/>
            </a:avLst>
          </a:prstGeom>
          <a:solidFill>
            <a:srgbClr val="F4F6F0"/>
          </a:solidFill>
          <a:ln w="12700">
            <a:solidFill>
              <a:srgbClr val="E2E7DC"/>
            </a:solidFill>
            <a:prstDash val="solid"/>
          </a:ln>
        </p:spPr>
      </p:sp>
      <p:sp>
        <p:nvSpPr>
          <p:cNvPr id="26" name="Text 24"/>
          <p:cNvSpPr txBox="1"/>
          <p:nvPr/>
        </p:nvSpPr>
        <p:spPr>
          <a:xfrm>
            <a:off x="3977640" y="4206240"/>
            <a:ext cx="2468880" cy="27432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pdfplumber</a:t>
            </a:r>
            <a:endParaRPr lang="en-US" sz="1300" dirty="0"/>
          </a:p>
        </p:txBody>
      </p:sp>
      <p:sp>
        <p:nvSpPr>
          <p:cNvPr id="27" name="Text 25"/>
          <p:cNvSpPr txBox="1"/>
          <p:nvPr/>
        </p:nvSpPr>
        <p:spPr>
          <a:xfrm>
            <a:off x="3977640" y="4480560"/>
            <a:ext cx="2560320" cy="256032"/>
          </a:xfrm>
          <a:prstGeom prst="rect">
            <a:avLst/>
          </a:prstGeom>
          <a:noFill/>
          <a:ln/>
        </p:spPr>
        <p:txBody>
          <a:bodyPr wrap="square" lIns="0" tIns="0" rIns="0" bIns="0" rtlCol="0" anchor="ctr"/>
          <a:lstStyle/>
          <a:p>
            <a:pPr indent="0" marL="0">
              <a:buNone/>
            </a:pPr>
            <a:r>
              <a:rPr lang="en-US" sz="1050" dirty="0">
                <a:solidFill>
                  <a:srgbClr val="5E6B5A"/>
                </a:solidFill>
                <a:latin typeface="Calibri" pitchFamily="34" charset="0"/>
                <a:ea typeface="Calibri" pitchFamily="34" charset="-122"/>
                <a:cs typeface="Calibri" pitchFamily="34" charset="-120"/>
              </a:rPr>
              <a:t>Table extraction from the source PDF</a:t>
            </a:r>
            <a:endParaRPr lang="en-US" sz="1050" dirty="0"/>
          </a:p>
        </p:txBody>
      </p:sp>
      <p:sp>
        <p:nvSpPr>
          <p:cNvPr id="28" name="Shape 26"/>
          <p:cNvSpPr/>
          <p:nvPr/>
        </p:nvSpPr>
        <p:spPr>
          <a:xfrm>
            <a:off x="7223760" y="1508760"/>
            <a:ext cx="4480560" cy="3364992"/>
          </a:xfrm>
          <a:prstGeom prst="roundRect">
            <a:avLst>
              <a:gd name="adj" fmla="val 2174"/>
            </a:avLst>
          </a:prstGeom>
          <a:solidFill>
            <a:srgbClr val="1B3A1C"/>
          </a:solidFill>
          <a:ln/>
        </p:spPr>
      </p:sp>
      <p:sp>
        <p:nvSpPr>
          <p:cNvPr id="29" name="Text 27"/>
          <p:cNvSpPr txBox="1"/>
          <p:nvPr/>
        </p:nvSpPr>
        <p:spPr>
          <a:xfrm>
            <a:off x="7543800" y="1783080"/>
            <a:ext cx="3840480" cy="256032"/>
          </a:xfrm>
          <a:prstGeom prst="rect">
            <a:avLst/>
          </a:prstGeom>
          <a:noFill/>
          <a:ln/>
        </p:spPr>
        <p:txBody>
          <a:bodyPr wrap="square" lIns="0" tIns="0" rIns="0" bIns="0" rtlCol="0" anchor="ctr"/>
          <a:lstStyle/>
          <a:p>
            <a:pPr indent="0" marL="0">
              <a:buNone/>
            </a:pPr>
            <a:r>
              <a:rPr lang="en-US" sz="1100" b="1" spc="150" kern="0" dirty="0">
                <a:solidFill>
                  <a:srgbClr val="97BC62"/>
                </a:solidFill>
                <a:latin typeface="Calibri" pitchFamily="34" charset="0"/>
                <a:ea typeface="Calibri" pitchFamily="34" charset="-122"/>
                <a:cs typeface="Calibri" pitchFamily="34" charset="-120"/>
              </a:rPr>
              <a:t>ANALYTICAL METHODS</a:t>
            </a:r>
            <a:endParaRPr lang="en-US" sz="1100" dirty="0"/>
          </a:p>
        </p:txBody>
      </p:sp>
      <p:sp>
        <p:nvSpPr>
          <p:cNvPr id="30" name="Text 28"/>
          <p:cNvSpPr txBox="1"/>
          <p:nvPr/>
        </p:nvSpPr>
        <p:spPr>
          <a:xfrm>
            <a:off x="7543800" y="2148840"/>
            <a:ext cx="3840480" cy="2560320"/>
          </a:xfrm>
          <a:prstGeom prst="rect">
            <a:avLst/>
          </a:prstGeom>
          <a:noFill/>
          <a:ln/>
        </p:spPr>
        <p:txBody>
          <a:bodyPr wrap="square" lIns="0" tIns="0" rIns="0" bIns="0" rtlCol="0" anchor="ctr"/>
          <a:lstStyle/>
          <a:p>
            <a:pPr indent="0" marL="0">
              <a:lnSpc>
                <a:spcPts val="1650"/>
              </a:lnSpc>
              <a:buNone/>
            </a:pPr>
            <a:r>
              <a:rPr lang="en-US" sz="1250" b="1" dirty="0">
                <a:solidFill>
                  <a:srgbClr val="FFFFFF"/>
                </a:solidFill>
                <a:latin typeface="Calibri" pitchFamily="34" charset="0"/>
                <a:ea typeface="Calibri" pitchFamily="34" charset="-122"/>
                <a:cs typeface="Calibri" pitchFamily="34" charset="-120"/>
              </a:rPr>
              <a:t>One-way ANOVA</a:t>
            </a:r>
            <a:endParaRPr lang="en-US" sz="1250" dirty="0"/>
          </a:p>
          <a:p>
            <a:pPr indent="0" marL="0">
              <a:lnSpc>
                <a:spcPts val="1650"/>
              </a:lnSpc>
              <a:spcAft>
                <a:spcPts val="800"/>
              </a:spcAft>
              <a:buNone/>
            </a:pPr>
            <a:r>
              <a:rPr lang="en-US" sz="1100" dirty="0">
                <a:solidFill>
                  <a:srgbClr val="AEC0A6"/>
                </a:solidFill>
                <a:latin typeface="Calibri" pitchFamily="34" charset="0"/>
                <a:ea typeface="Calibri" pitchFamily="34" charset="-122"/>
                <a:cs typeface="Calibri" pitchFamily="34" charset="-120"/>
              </a:rPr>
              <a:t>Tests whether season affects yield, profit and risk</a:t>
            </a:r>
            <a:endParaRPr lang="en-US" sz="1250" dirty="0"/>
          </a:p>
          <a:p>
            <a:pPr indent="0" marL="0">
              <a:lnSpc>
                <a:spcPts val="1650"/>
              </a:lnSpc>
              <a:buNone/>
            </a:pPr>
            <a:r>
              <a:rPr lang="en-US" sz="1250" b="1" dirty="0">
                <a:solidFill>
                  <a:srgbClr val="FFFFFF"/>
                </a:solidFill>
                <a:latin typeface="Calibri" pitchFamily="34" charset="0"/>
                <a:ea typeface="Calibri" pitchFamily="34" charset="-122"/>
                <a:cs typeface="Calibri" pitchFamily="34" charset="-120"/>
              </a:rPr>
              <a:t>Welch's t-test</a:t>
            </a:r>
            <a:endParaRPr lang="en-US" sz="1250" dirty="0"/>
          </a:p>
          <a:p>
            <a:pPr indent="0" marL="0">
              <a:lnSpc>
                <a:spcPts val="1650"/>
              </a:lnSpc>
              <a:spcAft>
                <a:spcPts val="800"/>
              </a:spcAft>
              <a:buNone/>
            </a:pPr>
            <a:r>
              <a:rPr lang="en-US" sz="1100" dirty="0">
                <a:solidFill>
                  <a:srgbClr val="AEC0A6"/>
                </a:solidFill>
                <a:latin typeface="Calibri" pitchFamily="34" charset="0"/>
                <a:ea typeface="Calibri" pitchFamily="34" charset="-122"/>
                <a:cs typeface="Calibri" pitchFamily="34" charset="-120"/>
              </a:rPr>
              <a:t>Pairwise season comparisons with unequal variance</a:t>
            </a:r>
            <a:endParaRPr lang="en-US" sz="1250" dirty="0"/>
          </a:p>
          <a:p>
            <a:pPr indent="0" marL="0">
              <a:lnSpc>
                <a:spcPts val="1650"/>
              </a:lnSpc>
              <a:buNone/>
            </a:pPr>
            <a:r>
              <a:rPr lang="en-US" sz="1250" b="1" dirty="0">
                <a:solidFill>
                  <a:srgbClr val="FFFFFF"/>
                </a:solidFill>
                <a:latin typeface="Calibri" pitchFamily="34" charset="0"/>
                <a:ea typeface="Calibri" pitchFamily="34" charset="-122"/>
                <a:cs typeface="Calibri" pitchFamily="34" charset="-120"/>
              </a:rPr>
              <a:t>Chi-square test</a:t>
            </a:r>
            <a:endParaRPr lang="en-US" sz="1250" dirty="0"/>
          </a:p>
          <a:p>
            <a:pPr indent="0" marL="0">
              <a:lnSpc>
                <a:spcPts val="1650"/>
              </a:lnSpc>
              <a:spcAft>
                <a:spcPts val="800"/>
              </a:spcAft>
              <a:buNone/>
            </a:pPr>
            <a:r>
              <a:rPr lang="en-US" sz="1100" dirty="0">
                <a:solidFill>
                  <a:srgbClr val="AEC0A6"/>
                </a:solidFill>
                <a:latin typeface="Calibri" pitchFamily="34" charset="0"/>
                <a:ea typeface="Calibri" pitchFamily="34" charset="-122"/>
                <a:cs typeface="Calibri" pitchFamily="34" charset="-120"/>
              </a:rPr>
              <a:t>Independence of irrigation choice and season</a:t>
            </a:r>
            <a:endParaRPr lang="en-US" sz="1250" dirty="0"/>
          </a:p>
          <a:p>
            <a:pPr indent="0" marL="0">
              <a:lnSpc>
                <a:spcPts val="1650"/>
              </a:lnSpc>
              <a:buNone/>
            </a:pPr>
            <a:r>
              <a:rPr lang="en-US" sz="1250" b="1" dirty="0">
                <a:solidFill>
                  <a:srgbClr val="FFFFFF"/>
                </a:solidFill>
                <a:latin typeface="Calibri" pitchFamily="34" charset="0"/>
                <a:ea typeface="Calibri" pitchFamily="34" charset="-122"/>
                <a:cs typeface="Calibri" pitchFamily="34" charset="-120"/>
              </a:rPr>
              <a:t>Correlation analysis</a:t>
            </a:r>
            <a:endParaRPr lang="en-US" sz="1250" dirty="0"/>
          </a:p>
          <a:p>
            <a:pPr indent="0" marL="0">
              <a:lnSpc>
                <a:spcPts val="1650"/>
              </a:lnSpc>
              <a:spcAft>
                <a:spcPts val="800"/>
              </a:spcAft>
              <a:buNone/>
            </a:pPr>
            <a:r>
              <a:rPr lang="en-US" sz="1100" dirty="0">
                <a:solidFill>
                  <a:srgbClr val="AEC0A6"/>
                </a:solidFill>
                <a:latin typeface="Calibri" pitchFamily="34" charset="0"/>
                <a:ea typeface="Calibri" pitchFamily="34" charset="-122"/>
                <a:cs typeface="Calibri" pitchFamily="34" charset="-120"/>
              </a:rPr>
              <a:t>Identifies which factors actually drive yield</a:t>
            </a:r>
            <a:endParaRPr lang="en-US" sz="1250" dirty="0"/>
          </a:p>
          <a:p>
            <a:pPr indent="0" marL="0">
              <a:lnSpc>
                <a:spcPts val="1650"/>
              </a:lnSpc>
              <a:buNone/>
            </a:pPr>
            <a:r>
              <a:rPr lang="en-US" sz="1250" b="1" dirty="0">
                <a:solidFill>
                  <a:srgbClr val="FFFFFF"/>
                </a:solidFill>
                <a:latin typeface="Calibri" pitchFamily="34" charset="0"/>
                <a:ea typeface="Calibri" pitchFamily="34" charset="-122"/>
                <a:cs typeface="Calibri" pitchFamily="34" charset="-120"/>
              </a:rPr>
              <a:t>Group-median imputation</a:t>
            </a:r>
            <a:endParaRPr lang="en-US" sz="1250" dirty="0"/>
          </a:p>
          <a:p>
            <a:pPr indent="0" marL="0">
              <a:lnSpc>
                <a:spcPts val="1650"/>
              </a:lnSpc>
              <a:buNone/>
            </a:pPr>
            <a:r>
              <a:rPr lang="en-US" sz="1100" dirty="0">
                <a:solidFill>
                  <a:srgbClr val="AEC0A6"/>
                </a:solidFill>
                <a:latin typeface="Calibri" pitchFamily="34" charset="0"/>
                <a:ea typeface="Calibri" pitchFamily="34" charset="-122"/>
                <a:cs typeface="Calibri" pitchFamily="34" charset="-120"/>
              </a:rPr>
              <a:t>Fills gaps without flattening seasonal signal</a:t>
            </a:r>
            <a:endParaRPr lang="en-US" sz="1250" dirty="0"/>
          </a:p>
        </p:txBody>
      </p:sp>
      <p:sp>
        <p:nvSpPr>
          <p:cNvPr id="31" name="Text 29"/>
          <p:cNvSpPr txBox="1"/>
          <p:nvPr/>
        </p:nvSpPr>
        <p:spPr>
          <a:xfrm>
            <a:off x="548640" y="5120640"/>
            <a:ext cx="11155680" cy="457200"/>
          </a:xfrm>
          <a:prstGeom prst="rect">
            <a:avLst/>
          </a:prstGeom>
          <a:noFill/>
          <a:ln/>
        </p:spPr>
        <p:txBody>
          <a:bodyPr wrap="square" lIns="0" tIns="0" rIns="0" bIns="0" rtlCol="0" anchor="ctr"/>
          <a:lstStyle/>
          <a:p>
            <a:pPr indent="0" marL="0">
              <a:buNone/>
            </a:pPr>
            <a:r>
              <a:rPr lang="en-US" sz="1200" i="1" dirty="0">
                <a:solidFill>
                  <a:srgbClr val="5E6B5A"/>
                </a:solidFill>
                <a:latin typeface="Calibri" pitchFamily="34" charset="0"/>
                <a:ea typeface="Calibri" pitchFamily="34" charset="-122"/>
                <a:cs typeface="Calibri" pitchFamily="34" charset="-120"/>
              </a:rPr>
              <a:t>Environment:  the full analysis is documented in a single Jupyter Notebook so every figure and statistic can be reproduced from the raw dataset.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9260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RESULTS · 1 OF 6</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200" b="1" dirty="0">
                <a:solidFill>
                  <a:srgbClr val="1B3A1C"/>
                </a:solidFill>
                <a:latin typeface="Cambria" pitchFamily="34" charset="0"/>
                <a:ea typeface="Cambria" pitchFamily="34" charset="-122"/>
                <a:cs typeface="Cambria" pitchFamily="34" charset="-120"/>
              </a:rPr>
              <a:t>The seasons are three distinct regimes</a:t>
            </a:r>
            <a:endParaRPr lang="en-US" sz="3200" dirty="0"/>
          </a:p>
        </p:txBody>
      </p:sp>
      <p:pic>
        <p:nvPicPr>
          <p:cNvPr id="4" name="Image 0" descr="preencoded.png">    </p:cNvPr>
          <p:cNvPicPr>
            <a:picLocks noChangeAspect="1"/>
          </p:cNvPicPr>
          <p:nvPr/>
        </p:nvPicPr>
        <p:blipFill>
          <a:blip r:embed="rId1"/>
          <a:srcRect l="0" r="0" t="0" b="0"/>
          <a:stretch/>
        </p:blipFill>
        <p:spPr>
          <a:xfrm>
            <a:off x="457200" y="1417320"/>
            <a:ext cx="7452360" cy="4983480"/>
          </a:xfrm>
          <a:prstGeom prst="rect">
            <a:avLst/>
          </a:prstGeom>
        </p:spPr>
      </p:pic>
      <p:sp>
        <p:nvSpPr>
          <p:cNvPr id="5" name="Shape 2"/>
          <p:cNvSpPr/>
          <p:nvPr/>
        </p:nvSpPr>
        <p:spPr>
          <a:xfrm>
            <a:off x="8092440" y="1417320"/>
            <a:ext cx="3611880" cy="4983480"/>
          </a:xfrm>
          <a:prstGeom prst="roundRect">
            <a:avLst>
              <a:gd name="adj" fmla="val 2025"/>
            </a:avLst>
          </a:prstGeom>
          <a:solidFill>
            <a:srgbClr val="F4F6F0"/>
          </a:solidFill>
          <a:ln w="12700">
            <a:solidFill>
              <a:srgbClr val="E2E7DC"/>
            </a:solidFill>
            <a:prstDash val="solid"/>
          </a:ln>
        </p:spPr>
      </p:sp>
      <p:sp>
        <p:nvSpPr>
          <p:cNvPr id="6" name="Text 3"/>
          <p:cNvSpPr txBox="1"/>
          <p:nvPr/>
        </p:nvSpPr>
        <p:spPr>
          <a:xfrm>
            <a:off x="8366760" y="1691640"/>
            <a:ext cx="3108960" cy="228600"/>
          </a:xfrm>
          <a:prstGeom prst="rect">
            <a:avLst/>
          </a:prstGeom>
          <a:noFill/>
          <a:ln/>
        </p:spPr>
        <p:txBody>
          <a:bodyPr wrap="square" lIns="0" tIns="0" rIns="0" bIns="0" rtlCol="0" anchor="t"/>
          <a:lstStyle/>
          <a:p>
            <a:pPr indent="0" marL="0">
              <a:buNone/>
            </a:pPr>
            <a:r>
              <a:rPr lang="en-US" sz="1000" b="1" spc="150" kern="0" dirty="0">
                <a:solidFill>
                  <a:srgbClr val="2C5F2D"/>
                </a:solidFill>
                <a:latin typeface="Calibri" pitchFamily="34" charset="0"/>
                <a:ea typeface="Calibri" pitchFamily="34" charset="-122"/>
                <a:cs typeface="Calibri" pitchFamily="34" charset="-120"/>
              </a:rPr>
              <a:t>KEY FINDINGS</a:t>
            </a:r>
            <a:endParaRPr lang="en-US" sz="1000" dirty="0"/>
          </a:p>
        </p:txBody>
      </p:sp>
      <p:sp>
        <p:nvSpPr>
          <p:cNvPr id="7" name="Text 4"/>
          <p:cNvSpPr txBox="1"/>
          <p:nvPr/>
        </p:nvSpPr>
        <p:spPr>
          <a:xfrm>
            <a:off x="8366760" y="2057400"/>
            <a:ext cx="3108960" cy="4114800"/>
          </a:xfrm>
          <a:prstGeom prst="rect">
            <a:avLst/>
          </a:prstGeom>
          <a:noFill/>
          <a:ln/>
        </p:spPr>
        <p:txBody>
          <a:bodyPr wrap="square" lIns="0" tIns="0" rIns="0" bIns="0" rtlCol="0" anchor="t"/>
          <a:lstStyle/>
          <a:p>
            <a:pPr marL="342900" indent="-342900">
              <a:lnSpc>
                <a:spcPts val="1800"/>
              </a:lnSpc>
              <a:spcAft>
                <a:spcPts val="1100"/>
              </a:spcAft>
              <a:buSzPct val="100000"/>
              <a:buChar char="•"/>
            </a:pPr>
            <a:r>
              <a:rPr lang="en-US" sz="1300" dirty="0">
                <a:solidFill>
                  <a:srgbClr val="22301F"/>
                </a:solidFill>
                <a:latin typeface="Calibri" pitchFamily="34" charset="0"/>
                <a:ea typeface="Calibri" pitchFamily="34" charset="-122"/>
                <a:cs typeface="Calibri" pitchFamily="34" charset="-120"/>
              </a:rPr>
              <a:t>Kharif receives 852 mm rainfall — 2.8× Zaid's 299 mm.</a:t>
            </a:r>
            <a:endParaRPr lang="en-US" sz="1300" dirty="0"/>
          </a:p>
          <a:p>
            <a:pPr marL="342900" indent="-342900">
              <a:lnSpc>
                <a:spcPts val="1800"/>
              </a:lnSpc>
              <a:spcAft>
                <a:spcPts val="1100"/>
              </a:spcAft>
              <a:buSzPct val="100000"/>
              <a:buChar char="•"/>
            </a:pPr>
            <a:r>
              <a:rPr lang="en-US" sz="1300" dirty="0">
                <a:solidFill>
                  <a:srgbClr val="22301F"/>
                </a:solidFill>
                <a:latin typeface="Calibri" pitchFamily="34" charset="0"/>
                <a:ea typeface="Calibri" pitchFamily="34" charset="-122"/>
                <a:cs typeface="Calibri" pitchFamily="34" charset="-120"/>
              </a:rPr>
              <a:t>Zaid is hottest at 31.0 °C with soil moisture down to 19%.</a:t>
            </a:r>
            <a:endParaRPr lang="en-US" sz="1300" dirty="0"/>
          </a:p>
          <a:p>
            <a:pPr marL="342900" indent="-342900">
              <a:lnSpc>
                <a:spcPts val="1800"/>
              </a:lnSpc>
              <a:spcAft>
                <a:spcPts val="1100"/>
              </a:spcAft>
              <a:buSzPct val="100000"/>
              <a:buChar char="•"/>
            </a:pPr>
            <a:r>
              <a:rPr lang="en-US" sz="1300" dirty="0">
                <a:solidFill>
                  <a:srgbClr val="22301F"/>
                </a:solidFill>
                <a:latin typeface="Calibri" pitchFamily="34" charset="0"/>
                <a:ea typeface="Calibri" pitchFamily="34" charset="-122"/>
                <a:cs typeface="Calibri" pitchFamily="34" charset="-120"/>
              </a:rPr>
              <a:t>Rabi is the coolest season at 23.5 °C.</a:t>
            </a:r>
            <a:endParaRPr lang="en-US" sz="1300" dirty="0"/>
          </a:p>
          <a:p>
            <a:pPr marL="342900" indent="-342900">
              <a:lnSpc>
                <a:spcPts val="1800"/>
              </a:lnSpc>
              <a:spcAft>
                <a:spcPts val="1100"/>
              </a:spcAft>
              <a:buSzPct val="100000"/>
              <a:buChar char="•"/>
            </a:pPr>
            <a:r>
              <a:rPr lang="en-US" sz="1300" dirty="0">
                <a:solidFill>
                  <a:srgbClr val="22301F"/>
                </a:solidFill>
                <a:latin typeface="Calibri" pitchFamily="34" charset="0"/>
                <a:ea typeface="Calibri" pitchFamily="34" charset="-122"/>
                <a:cs typeface="Calibri" pitchFamily="34" charset="-120"/>
              </a:rPr>
              <a:t>Every environmental variable except soil pH differs significantly (p &lt; 0.001).</a:t>
            </a:r>
            <a:endParaRPr lang="en-US" sz="1300" dirty="0"/>
          </a:p>
          <a:p>
            <a:pPr marL="342900" indent="-342900">
              <a:lnSpc>
                <a:spcPts val="1800"/>
              </a:lnSpc>
              <a:spcAft>
                <a:spcPts val="1100"/>
              </a:spcAft>
              <a:buSzPct val="100000"/>
              <a:buChar char="•"/>
            </a:pPr>
            <a:r>
              <a:rPr lang="en-US" sz="1300" dirty="0">
                <a:solidFill>
                  <a:srgbClr val="22301F"/>
                </a:solidFill>
                <a:latin typeface="Calibri" pitchFamily="34" charset="0"/>
                <a:ea typeface="Calibri" pitchFamily="34" charset="-122"/>
                <a:cs typeface="Calibri" pitchFamily="34" charset="-120"/>
              </a:rPr>
              <a:t>Season is therefore a meaningful grouping variable, not just a label.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9260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RESULTS · 2 OF 6</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200" b="1" dirty="0">
                <a:solidFill>
                  <a:srgbClr val="1B3A1C"/>
                </a:solidFill>
                <a:latin typeface="Cambria" pitchFamily="34" charset="0"/>
                <a:ea typeface="Cambria" pitchFamily="34" charset="-122"/>
                <a:cs typeface="Cambria" pitchFamily="34" charset="-120"/>
              </a:rPr>
              <a:t>The pooled data hides the real pattern</a:t>
            </a:r>
            <a:endParaRPr lang="en-US" sz="3200" dirty="0"/>
          </a:p>
        </p:txBody>
      </p:sp>
      <p:pic>
        <p:nvPicPr>
          <p:cNvPr id="4" name="Image 0" descr="preencoded.png">    </p:cNvPr>
          <p:cNvPicPr>
            <a:picLocks noChangeAspect="1"/>
          </p:cNvPicPr>
          <p:nvPr/>
        </p:nvPicPr>
        <p:blipFill>
          <a:blip r:embed="rId1"/>
          <a:srcRect l="0" r="0" t="0" b="0"/>
          <a:stretch/>
        </p:blipFill>
        <p:spPr>
          <a:xfrm>
            <a:off x="457200" y="1417320"/>
            <a:ext cx="7452360" cy="4983480"/>
          </a:xfrm>
          <a:prstGeom prst="rect">
            <a:avLst/>
          </a:prstGeom>
        </p:spPr>
      </p:pic>
      <p:sp>
        <p:nvSpPr>
          <p:cNvPr id="5" name="Shape 2"/>
          <p:cNvSpPr/>
          <p:nvPr/>
        </p:nvSpPr>
        <p:spPr>
          <a:xfrm>
            <a:off x="8092440" y="1417320"/>
            <a:ext cx="3611880" cy="4983480"/>
          </a:xfrm>
          <a:prstGeom prst="roundRect">
            <a:avLst>
              <a:gd name="adj" fmla="val 2025"/>
            </a:avLst>
          </a:prstGeom>
          <a:solidFill>
            <a:srgbClr val="F4F6F0"/>
          </a:solidFill>
          <a:ln w="12700">
            <a:solidFill>
              <a:srgbClr val="E2E7DC"/>
            </a:solidFill>
            <a:prstDash val="solid"/>
          </a:ln>
        </p:spPr>
      </p:sp>
      <p:sp>
        <p:nvSpPr>
          <p:cNvPr id="6" name="Text 3"/>
          <p:cNvSpPr txBox="1"/>
          <p:nvPr/>
        </p:nvSpPr>
        <p:spPr>
          <a:xfrm>
            <a:off x="8366760" y="1691640"/>
            <a:ext cx="3108960" cy="228600"/>
          </a:xfrm>
          <a:prstGeom prst="rect">
            <a:avLst/>
          </a:prstGeom>
          <a:noFill/>
          <a:ln/>
        </p:spPr>
        <p:txBody>
          <a:bodyPr wrap="square" lIns="0" tIns="0" rIns="0" bIns="0" rtlCol="0" anchor="t"/>
          <a:lstStyle/>
          <a:p>
            <a:pPr indent="0" marL="0">
              <a:buNone/>
            </a:pPr>
            <a:r>
              <a:rPr lang="en-US" sz="1000" b="1" spc="150" kern="0" dirty="0">
                <a:solidFill>
                  <a:srgbClr val="2C5F2D"/>
                </a:solidFill>
                <a:latin typeface="Calibri" pitchFamily="34" charset="0"/>
                <a:ea typeface="Calibri" pitchFamily="34" charset="-122"/>
                <a:cs typeface="Calibri" pitchFamily="34" charset="-120"/>
              </a:rPr>
              <a:t>KEY FINDINGS</a:t>
            </a:r>
            <a:endParaRPr lang="en-US" sz="1000" dirty="0"/>
          </a:p>
        </p:txBody>
      </p:sp>
      <p:sp>
        <p:nvSpPr>
          <p:cNvPr id="7" name="Text 4"/>
          <p:cNvSpPr txBox="1"/>
          <p:nvPr/>
        </p:nvSpPr>
        <p:spPr>
          <a:xfrm>
            <a:off x="8366760" y="2057400"/>
            <a:ext cx="3108960" cy="4114800"/>
          </a:xfrm>
          <a:prstGeom prst="rect">
            <a:avLst/>
          </a:prstGeom>
          <a:noFill/>
          <a:ln/>
        </p:spPr>
        <p:txBody>
          <a:bodyPr wrap="square" lIns="0" tIns="0" rIns="0" bIns="0" rtlCol="0" anchor="t"/>
          <a:lstStyle/>
          <a:p>
            <a:pPr marL="342900" indent="-342900">
              <a:lnSpc>
                <a:spcPts val="1800"/>
              </a:lnSpc>
              <a:spcAft>
                <a:spcPts val="1100"/>
              </a:spcAft>
              <a:buSzPct val="100000"/>
              <a:buChar char="•"/>
            </a:pPr>
            <a:r>
              <a:rPr lang="en-US" sz="1300" dirty="0">
                <a:solidFill>
                  <a:srgbClr val="22301F"/>
                </a:solidFill>
                <a:latin typeface="Calibri" pitchFamily="34" charset="0"/>
                <a:ea typeface="Calibri" pitchFamily="34" charset="-122"/>
                <a:cs typeface="Calibri" pitchFamily="34" charset="-120"/>
              </a:rPr>
              <a:t>Pooled yield shows NO seasonal effect (ANOVA p = 0.23).</a:t>
            </a:r>
            <a:endParaRPr lang="en-US" sz="1300" dirty="0"/>
          </a:p>
          <a:p>
            <a:pPr marL="342900" indent="-342900">
              <a:lnSpc>
                <a:spcPts val="1800"/>
              </a:lnSpc>
              <a:spcAft>
                <a:spcPts val="1100"/>
              </a:spcAft>
              <a:buSzPct val="100000"/>
              <a:buChar char="•"/>
            </a:pPr>
            <a:r>
              <a:rPr lang="en-US" sz="1300" dirty="0">
                <a:solidFill>
                  <a:srgbClr val="22301F"/>
                </a:solidFill>
                <a:latin typeface="Calibri" pitchFamily="34" charset="0"/>
                <a:ea typeface="Calibri" pitchFamily="34" charset="-122"/>
                <a:cs typeface="Calibri" pitchFamily="34" charset="-120"/>
              </a:rPr>
              <a:t>Cause: sugarcane yields ~20× other crops and is over-represented in Zaid (8.6% vs 7.0%).</a:t>
            </a:r>
            <a:endParaRPr lang="en-US" sz="1300" dirty="0"/>
          </a:p>
          <a:p>
            <a:pPr marL="342900" indent="-342900">
              <a:lnSpc>
                <a:spcPts val="1800"/>
              </a:lnSpc>
              <a:spcAft>
                <a:spcPts val="1100"/>
              </a:spcAft>
              <a:buSzPct val="100000"/>
              <a:buChar char="•"/>
            </a:pPr>
            <a:r>
              <a:rPr lang="en-US" sz="1300" dirty="0">
                <a:solidFill>
                  <a:srgbClr val="22301F"/>
                </a:solidFill>
                <a:latin typeface="Calibri" pitchFamily="34" charset="0"/>
                <a:ea typeface="Calibri" pitchFamily="34" charset="-122"/>
                <a:cs typeface="Calibri" pitchFamily="34" charset="-120"/>
              </a:rPr>
              <a:t>Removing that one crop makes the effect highly significant (p &lt; 0.001).</a:t>
            </a:r>
            <a:endParaRPr lang="en-US" sz="1300" dirty="0"/>
          </a:p>
          <a:p>
            <a:pPr marL="342900" indent="-342900">
              <a:lnSpc>
                <a:spcPts val="1800"/>
              </a:lnSpc>
              <a:spcAft>
                <a:spcPts val="1100"/>
              </a:spcAft>
              <a:buSzPct val="100000"/>
              <a:buChar char="•"/>
            </a:pPr>
            <a:r>
              <a:rPr lang="en-US" sz="1300" dirty="0">
                <a:solidFill>
                  <a:srgbClr val="22301F"/>
                </a:solidFill>
                <a:latin typeface="Calibri" pitchFamily="34" charset="0"/>
                <a:ea typeface="Calibri" pitchFamily="34" charset="-122"/>
                <a:cs typeface="Calibri" pitchFamily="34" charset="-120"/>
              </a:rPr>
              <a:t>A classic case of Simpson's paradox.</a:t>
            </a:r>
            <a:endParaRPr lang="en-US" sz="1300" dirty="0"/>
          </a:p>
          <a:p>
            <a:pPr marL="342900" indent="-342900">
              <a:lnSpc>
                <a:spcPts val="1800"/>
              </a:lnSpc>
              <a:spcAft>
                <a:spcPts val="1100"/>
              </a:spcAft>
              <a:buSzPct val="100000"/>
              <a:buChar char="•"/>
            </a:pPr>
            <a:r>
              <a:rPr lang="en-US" sz="1300" dirty="0">
                <a:solidFill>
                  <a:srgbClr val="22301F"/>
                </a:solidFill>
                <a:latin typeface="Calibri" pitchFamily="34" charset="0"/>
                <a:ea typeface="Calibri" pitchFamily="34" charset="-122"/>
                <a:cs typeface="Calibri" pitchFamily="34" charset="-120"/>
              </a:rPr>
              <a:t>A generic whole-dataset analysis would have reached the opposite conclusion.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9260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RESULTS · 3 OF 6</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200" b="1" dirty="0">
                <a:solidFill>
                  <a:srgbClr val="1B3A1C"/>
                </a:solidFill>
                <a:latin typeface="Cambria" pitchFamily="34" charset="0"/>
                <a:ea typeface="Cambria" pitchFamily="34" charset="-122"/>
                <a:cs typeface="Cambria" pitchFamily="34" charset="-120"/>
              </a:rPr>
              <a:t>Yield falls Kharif → Rabi → Zaid in all 8 crops</a:t>
            </a:r>
            <a:endParaRPr lang="en-US" sz="3200" dirty="0"/>
          </a:p>
        </p:txBody>
      </p:sp>
      <p:pic>
        <p:nvPicPr>
          <p:cNvPr id="4" name="Image 0" descr="preencoded.png">    </p:cNvPr>
          <p:cNvPicPr>
            <a:picLocks noChangeAspect="1"/>
          </p:cNvPicPr>
          <p:nvPr/>
        </p:nvPicPr>
        <p:blipFill>
          <a:blip r:embed="rId1"/>
          <a:srcRect l="0" r="0" t="0" b="0"/>
          <a:stretch/>
        </p:blipFill>
        <p:spPr>
          <a:xfrm>
            <a:off x="457200" y="1417320"/>
            <a:ext cx="7452360" cy="4983480"/>
          </a:xfrm>
          <a:prstGeom prst="rect">
            <a:avLst/>
          </a:prstGeom>
        </p:spPr>
      </p:pic>
      <p:sp>
        <p:nvSpPr>
          <p:cNvPr id="5" name="Shape 2"/>
          <p:cNvSpPr/>
          <p:nvPr/>
        </p:nvSpPr>
        <p:spPr>
          <a:xfrm>
            <a:off x="8092440" y="1417320"/>
            <a:ext cx="3611880" cy="4983480"/>
          </a:xfrm>
          <a:prstGeom prst="roundRect">
            <a:avLst>
              <a:gd name="adj" fmla="val 2025"/>
            </a:avLst>
          </a:prstGeom>
          <a:solidFill>
            <a:srgbClr val="F4F6F0"/>
          </a:solidFill>
          <a:ln w="12700">
            <a:solidFill>
              <a:srgbClr val="E2E7DC"/>
            </a:solidFill>
            <a:prstDash val="solid"/>
          </a:ln>
        </p:spPr>
      </p:sp>
      <p:sp>
        <p:nvSpPr>
          <p:cNvPr id="6" name="Text 3"/>
          <p:cNvSpPr txBox="1"/>
          <p:nvPr/>
        </p:nvSpPr>
        <p:spPr>
          <a:xfrm>
            <a:off x="8366760" y="1691640"/>
            <a:ext cx="3108960" cy="228600"/>
          </a:xfrm>
          <a:prstGeom prst="rect">
            <a:avLst/>
          </a:prstGeom>
          <a:noFill/>
          <a:ln/>
        </p:spPr>
        <p:txBody>
          <a:bodyPr wrap="square" lIns="0" tIns="0" rIns="0" bIns="0" rtlCol="0" anchor="t"/>
          <a:lstStyle/>
          <a:p>
            <a:pPr indent="0" marL="0">
              <a:buNone/>
            </a:pPr>
            <a:r>
              <a:rPr lang="en-US" sz="1000" b="1" spc="150" kern="0" dirty="0">
                <a:solidFill>
                  <a:srgbClr val="2C5F2D"/>
                </a:solidFill>
                <a:latin typeface="Calibri" pitchFamily="34" charset="0"/>
                <a:ea typeface="Calibri" pitchFamily="34" charset="-122"/>
                <a:cs typeface="Calibri" pitchFamily="34" charset="-120"/>
              </a:rPr>
              <a:t>KEY FINDINGS</a:t>
            </a:r>
            <a:endParaRPr lang="en-US" sz="1000" dirty="0"/>
          </a:p>
        </p:txBody>
      </p:sp>
      <p:sp>
        <p:nvSpPr>
          <p:cNvPr id="7" name="Text 4"/>
          <p:cNvSpPr txBox="1"/>
          <p:nvPr/>
        </p:nvSpPr>
        <p:spPr>
          <a:xfrm>
            <a:off x="8366760" y="2057400"/>
            <a:ext cx="3108960" cy="4114800"/>
          </a:xfrm>
          <a:prstGeom prst="rect">
            <a:avLst/>
          </a:prstGeom>
          <a:noFill/>
          <a:ln/>
        </p:spPr>
        <p:txBody>
          <a:bodyPr wrap="square" lIns="0" tIns="0" rIns="0" bIns="0" rtlCol="0" anchor="t"/>
          <a:lstStyle/>
          <a:p>
            <a:pPr marL="342900" indent="-342900">
              <a:lnSpc>
                <a:spcPts val="1800"/>
              </a:lnSpc>
              <a:spcAft>
                <a:spcPts val="1100"/>
              </a:spcAft>
              <a:buSzPct val="100000"/>
              <a:buChar char="•"/>
            </a:pPr>
            <a:r>
              <a:rPr lang="en-US" sz="1300" dirty="0">
                <a:solidFill>
                  <a:srgbClr val="22301F"/>
                </a:solidFill>
                <a:latin typeface="Calibri" pitchFamily="34" charset="0"/>
                <a:ea typeface="Calibri" pitchFamily="34" charset="-122"/>
                <a:cs typeface="Calibri" pitchFamily="34" charset="-120"/>
              </a:rPr>
              <a:t>The decline is universal — no crop is an exception.</a:t>
            </a:r>
            <a:endParaRPr lang="en-US" sz="1300" dirty="0"/>
          </a:p>
          <a:p>
            <a:pPr marL="342900" indent="-342900">
              <a:lnSpc>
                <a:spcPts val="1800"/>
              </a:lnSpc>
              <a:spcAft>
                <a:spcPts val="1100"/>
              </a:spcAft>
              <a:buSzPct val="100000"/>
              <a:buChar char="•"/>
            </a:pPr>
            <a:r>
              <a:rPr lang="en-US" sz="1300" dirty="0">
                <a:solidFill>
                  <a:srgbClr val="22301F"/>
                </a:solidFill>
                <a:latin typeface="Calibri" pitchFamily="34" charset="0"/>
                <a:ea typeface="Calibri" pitchFamily="34" charset="-122"/>
                <a:cs typeface="Calibri" pitchFamily="34" charset="-120"/>
              </a:rPr>
              <a:t>Statistically significant for every crop individually (all p &lt; 0.001).</a:t>
            </a:r>
            <a:endParaRPr lang="en-US" sz="1300" dirty="0"/>
          </a:p>
          <a:p>
            <a:pPr marL="342900" indent="-342900">
              <a:lnSpc>
                <a:spcPts val="1800"/>
              </a:lnSpc>
              <a:spcAft>
                <a:spcPts val="1100"/>
              </a:spcAft>
              <a:buSzPct val="100000"/>
              <a:buChar char="•"/>
            </a:pPr>
            <a:r>
              <a:rPr lang="en-US" sz="1300" dirty="0">
                <a:solidFill>
                  <a:srgbClr val="22301F"/>
                </a:solidFill>
                <a:latin typeface="Calibri" pitchFamily="34" charset="0"/>
                <a:ea typeface="Calibri" pitchFamily="34" charset="-122"/>
                <a:cs typeface="Calibri" pitchFamily="34" charset="-120"/>
              </a:rPr>
              <a:t>Largest fall: pulses at −37.0% from Kharif to Zaid.</a:t>
            </a:r>
            <a:endParaRPr lang="en-US" sz="1300" dirty="0"/>
          </a:p>
          <a:p>
            <a:pPr marL="342900" indent="-342900">
              <a:lnSpc>
                <a:spcPts val="1800"/>
              </a:lnSpc>
              <a:spcAft>
                <a:spcPts val="1100"/>
              </a:spcAft>
              <a:buSzPct val="100000"/>
              <a:buChar char="•"/>
            </a:pPr>
            <a:r>
              <a:rPr lang="en-US" sz="1300" dirty="0">
                <a:solidFill>
                  <a:srgbClr val="22301F"/>
                </a:solidFill>
                <a:latin typeface="Calibri" pitchFamily="34" charset="0"/>
                <a:ea typeface="Calibri" pitchFamily="34" charset="-122"/>
                <a:cs typeface="Calibri" pitchFamily="34" charset="-120"/>
              </a:rPr>
              <a:t>Smallest fall: wheat at −22.5%, followed by maize at −22.6%.</a:t>
            </a:r>
            <a:endParaRPr lang="en-US" sz="1300" dirty="0"/>
          </a:p>
          <a:p>
            <a:pPr marL="342900" indent="-342900">
              <a:lnSpc>
                <a:spcPts val="1800"/>
              </a:lnSpc>
              <a:spcAft>
                <a:spcPts val="1100"/>
              </a:spcAft>
              <a:buSzPct val="100000"/>
              <a:buChar char="•"/>
            </a:pPr>
            <a:r>
              <a:rPr lang="en-US" sz="1300" dirty="0">
                <a:solidFill>
                  <a:srgbClr val="22301F"/>
                </a:solidFill>
                <a:latin typeface="Calibri" pitchFamily="34" charset="0"/>
                <a:ea typeface="Calibri" pitchFamily="34" charset="-122"/>
                <a:cs typeface="Calibri" pitchFamily="34" charset="-120"/>
              </a:rPr>
              <a:t>Wheat and maize are the most seasonally resilient choices.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9260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RESULTS · 4 OF 6</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200" b="1" dirty="0">
                <a:solidFill>
                  <a:srgbClr val="1B3A1C"/>
                </a:solidFill>
                <a:latin typeface="Cambria" pitchFamily="34" charset="0"/>
                <a:ea typeface="Cambria" pitchFamily="34" charset="-122"/>
                <a:cs typeface="Cambria" pitchFamily="34" charset="-120"/>
              </a:rPr>
              <a:t>Profit collapses faster than yield</a:t>
            </a:r>
            <a:endParaRPr lang="en-US" sz="3200" dirty="0"/>
          </a:p>
        </p:txBody>
      </p:sp>
      <p:pic>
        <p:nvPicPr>
          <p:cNvPr id="4" name="Image 0" descr="preencoded.png">    </p:cNvPr>
          <p:cNvPicPr>
            <a:picLocks noChangeAspect="1"/>
          </p:cNvPicPr>
          <p:nvPr/>
        </p:nvPicPr>
        <p:blipFill>
          <a:blip r:embed="rId1"/>
          <a:srcRect l="0" r="0" t="0" b="0"/>
          <a:stretch/>
        </p:blipFill>
        <p:spPr>
          <a:xfrm>
            <a:off x="457200" y="1417320"/>
            <a:ext cx="7452360" cy="4983480"/>
          </a:xfrm>
          <a:prstGeom prst="rect">
            <a:avLst/>
          </a:prstGeom>
        </p:spPr>
      </p:pic>
      <p:sp>
        <p:nvSpPr>
          <p:cNvPr id="5" name="Shape 2"/>
          <p:cNvSpPr/>
          <p:nvPr/>
        </p:nvSpPr>
        <p:spPr>
          <a:xfrm>
            <a:off x="8092440" y="1417320"/>
            <a:ext cx="3611880" cy="4983480"/>
          </a:xfrm>
          <a:prstGeom prst="roundRect">
            <a:avLst>
              <a:gd name="adj" fmla="val 2025"/>
            </a:avLst>
          </a:prstGeom>
          <a:solidFill>
            <a:srgbClr val="F4F6F0"/>
          </a:solidFill>
          <a:ln w="12700">
            <a:solidFill>
              <a:srgbClr val="E2E7DC"/>
            </a:solidFill>
            <a:prstDash val="solid"/>
          </a:ln>
        </p:spPr>
      </p:sp>
      <p:sp>
        <p:nvSpPr>
          <p:cNvPr id="6" name="Text 3"/>
          <p:cNvSpPr txBox="1"/>
          <p:nvPr/>
        </p:nvSpPr>
        <p:spPr>
          <a:xfrm>
            <a:off x="8366760" y="1691640"/>
            <a:ext cx="3108960" cy="228600"/>
          </a:xfrm>
          <a:prstGeom prst="rect">
            <a:avLst/>
          </a:prstGeom>
          <a:noFill/>
          <a:ln/>
        </p:spPr>
        <p:txBody>
          <a:bodyPr wrap="square" lIns="0" tIns="0" rIns="0" bIns="0" rtlCol="0" anchor="t"/>
          <a:lstStyle/>
          <a:p>
            <a:pPr indent="0" marL="0">
              <a:buNone/>
            </a:pPr>
            <a:r>
              <a:rPr lang="en-US" sz="1000" b="1" spc="150" kern="0" dirty="0">
                <a:solidFill>
                  <a:srgbClr val="2C5F2D"/>
                </a:solidFill>
                <a:latin typeface="Calibri" pitchFamily="34" charset="0"/>
                <a:ea typeface="Calibri" pitchFamily="34" charset="-122"/>
                <a:cs typeface="Calibri" pitchFamily="34" charset="-120"/>
              </a:rPr>
              <a:t>KEY FINDINGS</a:t>
            </a:r>
            <a:endParaRPr lang="en-US" sz="1000" dirty="0"/>
          </a:p>
        </p:txBody>
      </p:sp>
      <p:sp>
        <p:nvSpPr>
          <p:cNvPr id="7" name="Text 4"/>
          <p:cNvSpPr txBox="1"/>
          <p:nvPr/>
        </p:nvSpPr>
        <p:spPr>
          <a:xfrm>
            <a:off x="8366760" y="2057400"/>
            <a:ext cx="3108960" cy="4114800"/>
          </a:xfrm>
          <a:prstGeom prst="rect">
            <a:avLst/>
          </a:prstGeom>
          <a:noFill/>
          <a:ln/>
        </p:spPr>
        <p:txBody>
          <a:bodyPr wrap="square" lIns="0" tIns="0" rIns="0" bIns="0" rtlCol="0" anchor="t"/>
          <a:lstStyle/>
          <a:p>
            <a:pPr marL="342900" indent="-342900">
              <a:lnSpc>
                <a:spcPts val="1800"/>
              </a:lnSpc>
              <a:spcAft>
                <a:spcPts val="1100"/>
              </a:spcAft>
              <a:buSzPct val="100000"/>
              <a:buChar char="•"/>
            </a:pPr>
            <a:r>
              <a:rPr lang="en-US" sz="1300" dirty="0">
                <a:solidFill>
                  <a:srgbClr val="22301F"/>
                </a:solidFill>
                <a:latin typeface="Calibri" pitchFamily="34" charset="0"/>
                <a:ea typeface="Calibri" pitchFamily="34" charset="-122"/>
                <a:cs typeface="Calibri" pitchFamily="34" charset="-120"/>
              </a:rPr>
              <a:t>Kharif: ₹21,882 per hectare, 57.8% of farms profitable.</a:t>
            </a:r>
            <a:endParaRPr lang="en-US" sz="1300" dirty="0"/>
          </a:p>
          <a:p>
            <a:pPr marL="342900" indent="-342900">
              <a:lnSpc>
                <a:spcPts val="1800"/>
              </a:lnSpc>
              <a:spcAft>
                <a:spcPts val="1100"/>
              </a:spcAft>
              <a:buSzPct val="100000"/>
              <a:buChar char="•"/>
            </a:pPr>
            <a:r>
              <a:rPr lang="en-US" sz="1300" dirty="0">
                <a:solidFill>
                  <a:srgbClr val="22301F"/>
                </a:solidFill>
                <a:latin typeface="Calibri" pitchFamily="34" charset="0"/>
                <a:ea typeface="Calibri" pitchFamily="34" charset="-122"/>
                <a:cs typeface="Calibri" pitchFamily="34" charset="-120"/>
              </a:rPr>
              <a:t>Rabi: ₹10,362 per hectare, 48.9% profitable.</a:t>
            </a:r>
            <a:endParaRPr lang="en-US" sz="1300" dirty="0"/>
          </a:p>
          <a:p>
            <a:pPr marL="342900" indent="-342900">
              <a:lnSpc>
                <a:spcPts val="1800"/>
              </a:lnSpc>
              <a:spcAft>
                <a:spcPts val="1100"/>
              </a:spcAft>
              <a:buSzPct val="100000"/>
              <a:buChar char="•"/>
            </a:pPr>
            <a:r>
              <a:rPr lang="en-US" sz="1300" dirty="0">
                <a:solidFill>
                  <a:srgbClr val="22301F"/>
                </a:solidFill>
                <a:latin typeface="Calibri" pitchFamily="34" charset="0"/>
                <a:ea typeface="Calibri" pitchFamily="34" charset="-122"/>
                <a:cs typeface="Calibri" pitchFamily="34" charset="-120"/>
              </a:rPr>
              <a:t>Zaid: −₹2,637 per hectare — the average Zaid farm loses money.</a:t>
            </a:r>
            <a:endParaRPr lang="en-US" sz="1300" dirty="0"/>
          </a:p>
          <a:p>
            <a:pPr marL="342900" indent="-342900">
              <a:lnSpc>
                <a:spcPts val="1800"/>
              </a:lnSpc>
              <a:spcAft>
                <a:spcPts val="1100"/>
              </a:spcAft>
              <a:buSzPct val="100000"/>
              <a:buChar char="•"/>
            </a:pPr>
            <a:r>
              <a:rPr lang="en-US" sz="1300" dirty="0">
                <a:solidFill>
                  <a:srgbClr val="22301F"/>
                </a:solidFill>
                <a:latin typeface="Calibri" pitchFamily="34" charset="0"/>
                <a:ea typeface="Calibri" pitchFamily="34" charset="-122"/>
                <a:cs typeface="Calibri" pitchFamily="34" charset="-120"/>
              </a:rPr>
              <a:t>Only 35.5% of Zaid farms break even.</a:t>
            </a:r>
            <a:endParaRPr lang="en-US" sz="1300" dirty="0"/>
          </a:p>
          <a:p>
            <a:pPr marL="342900" indent="-342900">
              <a:lnSpc>
                <a:spcPts val="1800"/>
              </a:lnSpc>
              <a:spcAft>
                <a:spcPts val="1100"/>
              </a:spcAft>
              <a:buSzPct val="100000"/>
              <a:buChar char="•"/>
            </a:pPr>
            <a:r>
              <a:rPr lang="en-US" sz="1300" dirty="0">
                <a:solidFill>
                  <a:srgbClr val="22301F"/>
                </a:solidFill>
                <a:latin typeface="Calibri" pitchFamily="34" charset="0"/>
                <a:ea typeface="Calibri" pitchFamily="34" charset="-122"/>
                <a:cs typeface="Calibri" pitchFamily="34" charset="-120"/>
              </a:rPr>
              <a:t>Every pairwise difference is significant (all p &lt; 0.001).</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9260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RESULTS · 5 OF 6</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200" b="1" dirty="0">
                <a:solidFill>
                  <a:srgbClr val="1B3A1C"/>
                </a:solidFill>
                <a:latin typeface="Cambria" pitchFamily="34" charset="0"/>
                <a:ea typeface="Cambria" pitchFamily="34" charset="-122"/>
                <a:cs typeface="Cambria" pitchFamily="34" charset="-120"/>
              </a:rPr>
              <a:t>It is a volume problem, not a price problem</a:t>
            </a:r>
            <a:endParaRPr lang="en-US" sz="3200" dirty="0"/>
          </a:p>
        </p:txBody>
      </p:sp>
      <p:pic>
        <p:nvPicPr>
          <p:cNvPr id="4" name="Image 0" descr="preencoded.png">    </p:cNvPr>
          <p:cNvPicPr>
            <a:picLocks noChangeAspect="1"/>
          </p:cNvPicPr>
          <p:nvPr/>
        </p:nvPicPr>
        <p:blipFill>
          <a:blip r:embed="rId1"/>
          <a:srcRect l="0" r="0" t="0" b="0"/>
          <a:stretch/>
        </p:blipFill>
        <p:spPr>
          <a:xfrm>
            <a:off x="457200" y="1417320"/>
            <a:ext cx="7452360" cy="4983480"/>
          </a:xfrm>
          <a:prstGeom prst="rect">
            <a:avLst/>
          </a:prstGeom>
        </p:spPr>
      </p:pic>
      <p:sp>
        <p:nvSpPr>
          <p:cNvPr id="5" name="Shape 2"/>
          <p:cNvSpPr/>
          <p:nvPr/>
        </p:nvSpPr>
        <p:spPr>
          <a:xfrm>
            <a:off x="8092440" y="1417320"/>
            <a:ext cx="3611880" cy="4983480"/>
          </a:xfrm>
          <a:prstGeom prst="roundRect">
            <a:avLst>
              <a:gd name="adj" fmla="val 2025"/>
            </a:avLst>
          </a:prstGeom>
          <a:solidFill>
            <a:srgbClr val="F4F6F0"/>
          </a:solidFill>
          <a:ln w="12700">
            <a:solidFill>
              <a:srgbClr val="E2E7DC"/>
            </a:solidFill>
            <a:prstDash val="solid"/>
          </a:ln>
        </p:spPr>
      </p:sp>
      <p:sp>
        <p:nvSpPr>
          <p:cNvPr id="6" name="Text 3"/>
          <p:cNvSpPr txBox="1"/>
          <p:nvPr/>
        </p:nvSpPr>
        <p:spPr>
          <a:xfrm>
            <a:off x="8366760" y="1691640"/>
            <a:ext cx="3108960" cy="228600"/>
          </a:xfrm>
          <a:prstGeom prst="rect">
            <a:avLst/>
          </a:prstGeom>
          <a:noFill/>
          <a:ln/>
        </p:spPr>
        <p:txBody>
          <a:bodyPr wrap="square" lIns="0" tIns="0" rIns="0" bIns="0" rtlCol="0" anchor="t"/>
          <a:lstStyle/>
          <a:p>
            <a:pPr indent="0" marL="0">
              <a:buNone/>
            </a:pPr>
            <a:r>
              <a:rPr lang="en-US" sz="1000" b="1" spc="150" kern="0" dirty="0">
                <a:solidFill>
                  <a:srgbClr val="2C5F2D"/>
                </a:solidFill>
                <a:latin typeface="Calibri" pitchFamily="34" charset="0"/>
                <a:ea typeface="Calibri" pitchFamily="34" charset="-122"/>
                <a:cs typeface="Calibri" pitchFamily="34" charset="-120"/>
              </a:rPr>
              <a:t>KEY FINDINGS</a:t>
            </a:r>
            <a:endParaRPr lang="en-US" sz="1000" dirty="0"/>
          </a:p>
        </p:txBody>
      </p:sp>
      <p:sp>
        <p:nvSpPr>
          <p:cNvPr id="7" name="Text 4"/>
          <p:cNvSpPr txBox="1"/>
          <p:nvPr/>
        </p:nvSpPr>
        <p:spPr>
          <a:xfrm>
            <a:off x="8366760" y="2057400"/>
            <a:ext cx="3108960" cy="4114800"/>
          </a:xfrm>
          <a:prstGeom prst="rect">
            <a:avLst/>
          </a:prstGeom>
          <a:noFill/>
          <a:ln/>
        </p:spPr>
        <p:txBody>
          <a:bodyPr wrap="square" lIns="0" tIns="0" rIns="0" bIns="0" rtlCol="0" anchor="t"/>
          <a:lstStyle/>
          <a:p>
            <a:pPr marL="342900" indent="-342900">
              <a:lnSpc>
                <a:spcPts val="1800"/>
              </a:lnSpc>
              <a:spcAft>
                <a:spcPts val="1100"/>
              </a:spcAft>
              <a:buSzPct val="100000"/>
              <a:buChar char="•"/>
            </a:pPr>
            <a:r>
              <a:rPr lang="en-US" sz="1300" dirty="0">
                <a:solidFill>
                  <a:srgbClr val="22301F"/>
                </a:solidFill>
                <a:latin typeface="Calibri" pitchFamily="34" charset="0"/>
                <a:ea typeface="Calibri" pitchFamily="34" charset="-122"/>
                <a:cs typeface="Calibri" pitchFamily="34" charset="-120"/>
              </a:rPr>
              <a:t>Costs are essentially flat — Zaid costs 2.3% MORE than Kharif.</a:t>
            </a:r>
            <a:endParaRPr lang="en-US" sz="1300" dirty="0"/>
          </a:p>
          <a:p>
            <a:pPr marL="342900" indent="-342900">
              <a:lnSpc>
                <a:spcPts val="1800"/>
              </a:lnSpc>
              <a:spcAft>
                <a:spcPts val="1100"/>
              </a:spcAft>
              <a:buSzPct val="100000"/>
              <a:buChar char="•"/>
            </a:pPr>
            <a:r>
              <a:rPr lang="en-US" sz="1300" dirty="0">
                <a:solidFill>
                  <a:srgbClr val="22301F"/>
                </a:solidFill>
                <a:latin typeface="Calibri" pitchFamily="34" charset="0"/>
                <a:ea typeface="Calibri" pitchFamily="34" charset="-122"/>
                <a:cs typeface="Calibri" pitchFamily="34" charset="-120"/>
              </a:rPr>
              <a:t>Revenue falls 27% from Kharif to Zaid.</a:t>
            </a:r>
            <a:endParaRPr lang="en-US" sz="1300" dirty="0"/>
          </a:p>
          <a:p>
            <a:pPr marL="342900" indent="-342900">
              <a:lnSpc>
                <a:spcPts val="1800"/>
              </a:lnSpc>
              <a:spcAft>
                <a:spcPts val="1100"/>
              </a:spcAft>
              <a:buSzPct val="100000"/>
              <a:buChar char="•"/>
            </a:pPr>
            <a:r>
              <a:rPr lang="en-US" sz="1300" dirty="0">
                <a:solidFill>
                  <a:srgbClr val="22301F"/>
                </a:solidFill>
                <a:latin typeface="Calibri" pitchFamily="34" charset="0"/>
                <a:ea typeface="Calibri" pitchFamily="34" charset="-122"/>
                <a:cs typeface="Calibri" pitchFamily="34" charset="-120"/>
              </a:rPr>
              <a:t>Market prices vary less than 3.5% across seasons for every crop.</a:t>
            </a:r>
            <a:endParaRPr lang="en-US" sz="1300" dirty="0"/>
          </a:p>
          <a:p>
            <a:pPr marL="342900" indent="-342900">
              <a:lnSpc>
                <a:spcPts val="1800"/>
              </a:lnSpc>
              <a:spcAft>
                <a:spcPts val="1100"/>
              </a:spcAft>
              <a:buSzPct val="100000"/>
              <a:buChar char="•"/>
            </a:pPr>
            <a:r>
              <a:rPr lang="en-US" sz="1300" dirty="0">
                <a:solidFill>
                  <a:srgbClr val="22301F"/>
                </a:solidFill>
                <a:latin typeface="Calibri" pitchFamily="34" charset="0"/>
                <a:ea typeface="Calibri" pitchFamily="34" charset="-122"/>
                <a:cs typeface="Calibri" pitchFamily="34" charset="-120"/>
              </a:rPr>
              <a:t>So the revenue fall is entirely driven by lower output.</a:t>
            </a:r>
            <a:endParaRPr lang="en-US" sz="1300" dirty="0"/>
          </a:p>
          <a:p>
            <a:pPr marL="342900" indent="-342900">
              <a:lnSpc>
                <a:spcPts val="1800"/>
              </a:lnSpc>
              <a:spcAft>
                <a:spcPts val="1100"/>
              </a:spcAft>
              <a:buSzPct val="100000"/>
              <a:buChar char="•"/>
            </a:pPr>
            <a:r>
              <a:rPr lang="en-US" sz="1300" dirty="0">
                <a:solidFill>
                  <a:srgbClr val="22301F"/>
                </a:solidFill>
                <a:latin typeface="Calibri" pitchFamily="34" charset="0"/>
                <a:ea typeface="Calibri" pitchFamily="34" charset="-122"/>
                <a:cs typeface="Calibri" pitchFamily="34" charset="-120"/>
              </a:rPr>
              <a:t>Farmers pay roughly the same to produce substantially less.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9260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RESULTS · 6 OF 6</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200" b="1" dirty="0">
                <a:solidFill>
                  <a:srgbClr val="1B3A1C"/>
                </a:solidFill>
                <a:latin typeface="Cambria" pitchFamily="34" charset="0"/>
                <a:ea typeface="Cambria" pitchFamily="34" charset="-122"/>
                <a:cs typeface="Cambria" pitchFamily="34" charset="-120"/>
              </a:rPr>
              <a:t>Irrigation choice ignores the season — outcomes do not</a:t>
            </a:r>
            <a:endParaRPr lang="en-US" sz="3200" dirty="0"/>
          </a:p>
        </p:txBody>
      </p:sp>
      <p:pic>
        <p:nvPicPr>
          <p:cNvPr id="4" name="Image 0" descr="preencoded.png">    </p:cNvPr>
          <p:cNvPicPr>
            <a:picLocks noChangeAspect="1"/>
          </p:cNvPicPr>
          <p:nvPr/>
        </p:nvPicPr>
        <p:blipFill>
          <a:blip r:embed="rId1"/>
          <a:srcRect l="0" r="0" t="0" b="0"/>
          <a:stretch/>
        </p:blipFill>
        <p:spPr>
          <a:xfrm>
            <a:off x="457200" y="1417320"/>
            <a:ext cx="7452360" cy="4983480"/>
          </a:xfrm>
          <a:prstGeom prst="rect">
            <a:avLst/>
          </a:prstGeom>
        </p:spPr>
      </p:pic>
      <p:sp>
        <p:nvSpPr>
          <p:cNvPr id="5" name="Shape 2"/>
          <p:cNvSpPr/>
          <p:nvPr/>
        </p:nvSpPr>
        <p:spPr>
          <a:xfrm>
            <a:off x="8092440" y="1417320"/>
            <a:ext cx="3611880" cy="4983480"/>
          </a:xfrm>
          <a:prstGeom prst="roundRect">
            <a:avLst>
              <a:gd name="adj" fmla="val 2025"/>
            </a:avLst>
          </a:prstGeom>
          <a:solidFill>
            <a:srgbClr val="F4F6F0"/>
          </a:solidFill>
          <a:ln w="12700">
            <a:solidFill>
              <a:srgbClr val="E2E7DC"/>
            </a:solidFill>
            <a:prstDash val="solid"/>
          </a:ln>
        </p:spPr>
      </p:sp>
      <p:sp>
        <p:nvSpPr>
          <p:cNvPr id="6" name="Text 3"/>
          <p:cNvSpPr txBox="1"/>
          <p:nvPr/>
        </p:nvSpPr>
        <p:spPr>
          <a:xfrm>
            <a:off x="8366760" y="1691640"/>
            <a:ext cx="3108960" cy="228600"/>
          </a:xfrm>
          <a:prstGeom prst="rect">
            <a:avLst/>
          </a:prstGeom>
          <a:noFill/>
          <a:ln/>
        </p:spPr>
        <p:txBody>
          <a:bodyPr wrap="square" lIns="0" tIns="0" rIns="0" bIns="0" rtlCol="0" anchor="t"/>
          <a:lstStyle/>
          <a:p>
            <a:pPr indent="0" marL="0">
              <a:buNone/>
            </a:pPr>
            <a:r>
              <a:rPr lang="en-US" sz="1000" b="1" spc="150" kern="0" dirty="0">
                <a:solidFill>
                  <a:srgbClr val="2C5F2D"/>
                </a:solidFill>
                <a:latin typeface="Calibri" pitchFamily="34" charset="0"/>
                <a:ea typeface="Calibri" pitchFamily="34" charset="-122"/>
                <a:cs typeface="Calibri" pitchFamily="34" charset="-120"/>
              </a:rPr>
              <a:t>KEY FINDINGS</a:t>
            </a:r>
            <a:endParaRPr lang="en-US" sz="1000" dirty="0"/>
          </a:p>
        </p:txBody>
      </p:sp>
      <p:sp>
        <p:nvSpPr>
          <p:cNvPr id="7" name="Text 4"/>
          <p:cNvSpPr txBox="1"/>
          <p:nvPr/>
        </p:nvSpPr>
        <p:spPr>
          <a:xfrm>
            <a:off x="8366760" y="2057400"/>
            <a:ext cx="3108960" cy="4114800"/>
          </a:xfrm>
          <a:prstGeom prst="rect">
            <a:avLst/>
          </a:prstGeom>
          <a:noFill/>
          <a:ln/>
        </p:spPr>
        <p:txBody>
          <a:bodyPr wrap="square" lIns="0" tIns="0" rIns="0" bIns="0" rtlCol="0" anchor="t"/>
          <a:lstStyle/>
          <a:p>
            <a:pPr marL="342900" indent="-342900">
              <a:lnSpc>
                <a:spcPts val="1800"/>
              </a:lnSpc>
              <a:spcAft>
                <a:spcPts val="1100"/>
              </a:spcAft>
              <a:buSzPct val="100000"/>
              <a:buChar char="•"/>
            </a:pPr>
            <a:r>
              <a:rPr lang="en-US" sz="1300" dirty="0">
                <a:solidFill>
                  <a:srgbClr val="22301F"/>
                </a:solidFill>
                <a:latin typeface="Calibri" pitchFamily="34" charset="0"/>
                <a:ea typeface="Calibri" pitchFamily="34" charset="-122"/>
                <a:cs typeface="Calibri" pitchFamily="34" charset="-120"/>
              </a:rPr>
              <a:t>Chi-square: method choice is independent of season (p = 0.74).</a:t>
            </a:r>
            <a:endParaRPr lang="en-US" sz="1300" dirty="0"/>
          </a:p>
          <a:p>
            <a:pPr marL="342900" indent="-342900">
              <a:lnSpc>
                <a:spcPts val="1800"/>
              </a:lnSpc>
              <a:spcAft>
                <a:spcPts val="1100"/>
              </a:spcAft>
              <a:buSzPct val="100000"/>
              <a:buChar char="•"/>
            </a:pPr>
            <a:r>
              <a:rPr lang="en-US" sz="1300" dirty="0">
                <a:solidFill>
                  <a:srgbClr val="22301F"/>
                </a:solidFill>
                <a:latin typeface="Calibri" pitchFamily="34" charset="0"/>
                <a:ea typeface="Calibri" pitchFamily="34" charset="-122"/>
                <a:cs typeface="Calibri" pitchFamily="34" charset="-120"/>
              </a:rPr>
              <a:t>But in Zaid, Flood loses ₹8,937/ha and Rainfed loses ₹9,498/ha.</a:t>
            </a:r>
            <a:endParaRPr lang="en-US" sz="1300" dirty="0"/>
          </a:p>
          <a:p>
            <a:pPr marL="342900" indent="-342900">
              <a:lnSpc>
                <a:spcPts val="1800"/>
              </a:lnSpc>
              <a:spcAft>
                <a:spcPts val="1100"/>
              </a:spcAft>
              <a:buSzPct val="100000"/>
              <a:buChar char="•"/>
            </a:pPr>
            <a:r>
              <a:rPr lang="en-US" sz="1300" dirty="0">
                <a:solidFill>
                  <a:srgbClr val="22301F"/>
                </a:solidFill>
                <a:latin typeface="Calibri" pitchFamily="34" charset="0"/>
                <a:ea typeface="Calibri" pitchFamily="34" charset="-122"/>
                <a:cs typeface="Calibri" pitchFamily="34" charset="-120"/>
              </a:rPr>
              <a:t>Drip (+₹2,540) and Sprinkler (+₹9,515) stay profitable.</a:t>
            </a:r>
            <a:endParaRPr lang="en-US" sz="1300" dirty="0"/>
          </a:p>
          <a:p>
            <a:pPr marL="342900" indent="-342900">
              <a:lnSpc>
                <a:spcPts val="1800"/>
              </a:lnSpc>
              <a:spcAft>
                <a:spcPts val="1100"/>
              </a:spcAft>
              <a:buSzPct val="100000"/>
              <a:buChar char="•"/>
            </a:pPr>
            <a:r>
              <a:rPr lang="en-US" sz="1300" dirty="0">
                <a:solidFill>
                  <a:srgbClr val="22301F"/>
                </a:solidFill>
                <a:latin typeface="Calibri" pitchFamily="34" charset="0"/>
                <a:ea typeface="Calibri" pitchFamily="34" charset="-122"/>
                <a:cs typeface="Calibri" pitchFamily="34" charset="-120"/>
              </a:rPr>
              <a:t>Flood uses the most water (8,114 m³) at the worst efficiency (2.73).</a:t>
            </a:r>
            <a:endParaRPr lang="en-US" sz="1300" dirty="0"/>
          </a:p>
          <a:p>
            <a:pPr marL="342900" indent="-342900">
              <a:lnSpc>
                <a:spcPts val="1800"/>
              </a:lnSpc>
              <a:spcAft>
                <a:spcPts val="1100"/>
              </a:spcAft>
              <a:buSzPct val="100000"/>
              <a:buChar char="•"/>
            </a:pPr>
            <a:r>
              <a:rPr lang="en-US" sz="1300" dirty="0">
                <a:solidFill>
                  <a:srgbClr val="22301F"/>
                </a:solidFill>
                <a:latin typeface="Calibri" pitchFamily="34" charset="0"/>
                <a:ea typeface="Calibri" pitchFamily="34" charset="-122"/>
                <a:cs typeface="Calibri" pitchFamily="34" charset="-120"/>
              </a:rPr>
              <a:t>≈ ₹19,000/ha separates the best and worst method in Zaid.</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9260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SUPPORTING RESULTS</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200" b="1" dirty="0">
                <a:solidFill>
                  <a:srgbClr val="1B3A1C"/>
                </a:solidFill>
                <a:latin typeface="Cambria" pitchFamily="34" charset="0"/>
                <a:ea typeface="Cambria" pitchFamily="34" charset="-122"/>
                <a:cs typeface="Cambria" pitchFamily="34" charset="-120"/>
              </a:rPr>
              <a:t>Risk and Regional Consistency</a:t>
            </a:r>
            <a:endParaRPr lang="en-US" sz="3200" dirty="0"/>
          </a:p>
        </p:txBody>
      </p:sp>
      <p:pic>
        <p:nvPicPr>
          <p:cNvPr id="4" name="Image 0" descr="preencoded.png">    </p:cNvPr>
          <p:cNvPicPr>
            <a:picLocks noChangeAspect="1"/>
          </p:cNvPicPr>
          <p:nvPr/>
        </p:nvPicPr>
        <p:blipFill>
          <a:blip r:embed="rId1"/>
          <a:srcRect l="0" r="0" t="0" b="0"/>
          <a:stretch/>
        </p:blipFill>
        <p:spPr>
          <a:xfrm>
            <a:off x="502920" y="1463040"/>
            <a:ext cx="5852160" cy="2743200"/>
          </a:xfrm>
          <a:prstGeom prst="rect">
            <a:avLst/>
          </a:prstGeom>
        </p:spPr>
      </p:pic>
      <p:pic>
        <p:nvPicPr>
          <p:cNvPr id="5" name="Image 1" descr="preencoded.png">    </p:cNvPr>
          <p:cNvPicPr>
            <a:picLocks noChangeAspect="1"/>
          </p:cNvPicPr>
          <p:nvPr/>
        </p:nvPicPr>
        <p:blipFill>
          <a:blip r:embed="rId2"/>
          <a:srcRect l="0" r="0" t="0" b="0"/>
          <a:stretch/>
        </p:blipFill>
        <p:spPr>
          <a:xfrm>
            <a:off x="6675120" y="1463040"/>
            <a:ext cx="5029200" cy="3291840"/>
          </a:xfrm>
          <a:prstGeom prst="rect">
            <a:avLst/>
          </a:prstGeom>
        </p:spPr>
      </p:pic>
      <p:sp>
        <p:nvSpPr>
          <p:cNvPr id="6" name="Shape 2"/>
          <p:cNvSpPr/>
          <p:nvPr/>
        </p:nvSpPr>
        <p:spPr>
          <a:xfrm>
            <a:off x="502920" y="4434840"/>
            <a:ext cx="5852160" cy="1691640"/>
          </a:xfrm>
          <a:prstGeom prst="roundRect">
            <a:avLst>
              <a:gd name="adj" fmla="val 4324"/>
            </a:avLst>
          </a:prstGeom>
          <a:solidFill>
            <a:srgbClr val="F4F6F0"/>
          </a:solidFill>
          <a:ln w="12700">
            <a:solidFill>
              <a:srgbClr val="E2E7DC"/>
            </a:solidFill>
            <a:prstDash val="solid"/>
          </a:ln>
        </p:spPr>
      </p:sp>
      <p:sp>
        <p:nvSpPr>
          <p:cNvPr id="7" name="Text 3"/>
          <p:cNvSpPr txBox="1"/>
          <p:nvPr/>
        </p:nvSpPr>
        <p:spPr>
          <a:xfrm>
            <a:off x="777240" y="4617720"/>
            <a:ext cx="5303520" cy="27432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The Kharif trade-off</a:t>
            </a:r>
            <a:endParaRPr lang="en-US" sz="1300" dirty="0"/>
          </a:p>
        </p:txBody>
      </p:sp>
      <p:sp>
        <p:nvSpPr>
          <p:cNvPr id="8" name="Text 4"/>
          <p:cNvSpPr txBox="1"/>
          <p:nvPr/>
        </p:nvSpPr>
        <p:spPr>
          <a:xfrm>
            <a:off x="777240" y="4919472"/>
            <a:ext cx="5303520" cy="1097280"/>
          </a:xfrm>
          <a:prstGeom prst="rect">
            <a:avLst/>
          </a:prstGeom>
          <a:noFill/>
          <a:ln/>
        </p:spPr>
        <p:txBody>
          <a:bodyPr wrap="square" lIns="0" tIns="0" rIns="0" bIns="0" rtlCol="0" anchor="t"/>
          <a:lstStyle/>
          <a:p>
            <a:pPr indent="0" marL="0">
              <a:lnSpc>
                <a:spcPts val="1500"/>
              </a:lnSpc>
              <a:buNone/>
            </a:pPr>
            <a:r>
              <a:rPr lang="en-US" sz="1150" dirty="0">
                <a:solidFill>
                  <a:srgbClr val="22301F"/>
                </a:solidFill>
                <a:latin typeface="Calibri" pitchFamily="34" charset="0"/>
                <a:ea typeface="Calibri" pitchFamily="34" charset="-122"/>
                <a:cs typeface="Calibri" pitchFamily="34" charset="-120"/>
              </a:rPr>
              <a:t>Kharif is the most profitable AND the riskiest season — disease risk is 54.5% versus 38.2% in Zaid, tracking rainfall at r = +0.62. Yet pesticide use is flat across all three seasons (5.08 / 5.02 / 5.17 L/ha): protection is not being matched to risk.</a:t>
            </a:r>
            <a:endParaRPr lang="en-US" sz="1150" dirty="0"/>
          </a:p>
        </p:txBody>
      </p:sp>
      <p:sp>
        <p:nvSpPr>
          <p:cNvPr id="9" name="Shape 5"/>
          <p:cNvSpPr/>
          <p:nvPr/>
        </p:nvSpPr>
        <p:spPr>
          <a:xfrm>
            <a:off x="6675120" y="4892040"/>
            <a:ext cx="5029200" cy="1234440"/>
          </a:xfrm>
          <a:prstGeom prst="roundRect">
            <a:avLst>
              <a:gd name="adj" fmla="val 5926"/>
            </a:avLst>
          </a:prstGeom>
          <a:solidFill>
            <a:srgbClr val="F4F6F0"/>
          </a:solidFill>
          <a:ln w="12700">
            <a:solidFill>
              <a:srgbClr val="E2E7DC"/>
            </a:solidFill>
            <a:prstDash val="solid"/>
          </a:ln>
        </p:spPr>
      </p:sp>
      <p:sp>
        <p:nvSpPr>
          <p:cNvPr id="10" name="Text 6"/>
          <p:cNvSpPr txBox="1"/>
          <p:nvPr/>
        </p:nvSpPr>
        <p:spPr>
          <a:xfrm>
            <a:off x="6949440" y="5074920"/>
            <a:ext cx="4480560" cy="27432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A structural, not regional, pattern</a:t>
            </a:r>
            <a:endParaRPr lang="en-US" sz="1300" dirty="0"/>
          </a:p>
        </p:txBody>
      </p:sp>
      <p:sp>
        <p:nvSpPr>
          <p:cNvPr id="11" name="Text 7"/>
          <p:cNvSpPr txBox="1"/>
          <p:nvPr/>
        </p:nvSpPr>
        <p:spPr>
          <a:xfrm>
            <a:off x="6949440" y="5376672"/>
            <a:ext cx="4480560" cy="640080"/>
          </a:xfrm>
          <a:prstGeom prst="rect">
            <a:avLst/>
          </a:prstGeom>
          <a:noFill/>
          <a:ln/>
        </p:spPr>
        <p:txBody>
          <a:bodyPr wrap="square" lIns="0" tIns="0" rIns="0" bIns="0" rtlCol="0" anchor="t"/>
          <a:lstStyle/>
          <a:p>
            <a:pPr indent="0" marL="0">
              <a:lnSpc>
                <a:spcPts val="1500"/>
              </a:lnSpc>
              <a:buNone/>
            </a:pPr>
            <a:r>
              <a:rPr lang="en-US" sz="1150" dirty="0">
                <a:solidFill>
                  <a:srgbClr val="22301F"/>
                </a:solidFill>
                <a:latin typeface="Calibri" pitchFamily="34" charset="0"/>
                <a:ea typeface="Calibri" pitchFamily="34" charset="-122"/>
                <a:cs typeface="Calibri" pitchFamily="34" charset="-120"/>
              </a:rPr>
              <a:t>The ordering holds in 7 of 8 states. Punjab is the only state profitable in every season — and the only one where Rabi beats Kharif.</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3A1C"/>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100" b="1" spc="250" kern="0" dirty="0">
                <a:solidFill>
                  <a:srgbClr val="97BC62"/>
                </a:solidFill>
                <a:latin typeface="Calibri" pitchFamily="34" charset="0"/>
                <a:ea typeface="Calibri" pitchFamily="34" charset="-122"/>
                <a:cs typeface="Calibri" pitchFamily="34" charset="-120"/>
              </a:rPr>
              <a:t>CONCLUSIONS</a:t>
            </a:r>
            <a:endParaRPr lang="en-US" sz="1100" dirty="0"/>
          </a:p>
        </p:txBody>
      </p:sp>
      <p:sp>
        <p:nvSpPr>
          <p:cNvPr id="3" name="Text 1"/>
          <p:cNvSpPr txBox="1"/>
          <p:nvPr/>
        </p:nvSpPr>
        <p:spPr>
          <a:xfrm>
            <a:off x="548640" y="713232"/>
            <a:ext cx="109728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the data shows</a:t>
            </a:r>
            <a:endParaRPr lang="en-US" sz="3200" dirty="0"/>
          </a:p>
        </p:txBody>
      </p:sp>
      <p:sp>
        <p:nvSpPr>
          <p:cNvPr id="4" name="Text 2"/>
          <p:cNvSpPr txBox="1"/>
          <p:nvPr/>
        </p:nvSpPr>
        <p:spPr>
          <a:xfrm>
            <a:off x="548640" y="1874520"/>
            <a:ext cx="548640" cy="320040"/>
          </a:xfrm>
          <a:prstGeom prst="rect">
            <a:avLst/>
          </a:prstGeom>
          <a:noFill/>
          <a:ln/>
        </p:spPr>
        <p:txBody>
          <a:bodyPr wrap="square" lIns="0" tIns="0" rIns="0" bIns="0" rtlCol="0" anchor="ctr"/>
          <a:lstStyle/>
          <a:p>
            <a:pPr indent="0" marL="0">
              <a:buNone/>
            </a:pPr>
            <a:r>
              <a:rPr lang="en-US" sz="1800" b="1" dirty="0">
                <a:solidFill>
                  <a:srgbClr val="97BC62"/>
                </a:solidFill>
                <a:latin typeface="Cambria" pitchFamily="34" charset="0"/>
                <a:ea typeface="Cambria" pitchFamily="34" charset="-122"/>
                <a:cs typeface="Cambria" pitchFamily="34" charset="-120"/>
              </a:rPr>
              <a:t>01</a:t>
            </a:r>
            <a:endParaRPr lang="en-US" sz="1800" dirty="0"/>
          </a:p>
        </p:txBody>
      </p:sp>
      <p:sp>
        <p:nvSpPr>
          <p:cNvPr id="5" name="Text 3"/>
          <p:cNvSpPr txBox="1"/>
          <p:nvPr/>
        </p:nvSpPr>
        <p:spPr>
          <a:xfrm>
            <a:off x="1188720" y="1856232"/>
            <a:ext cx="4846320" cy="3200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Season is real and measurable</a:t>
            </a:r>
            <a:endParaRPr lang="en-US" sz="1450" dirty="0"/>
          </a:p>
        </p:txBody>
      </p:sp>
      <p:sp>
        <p:nvSpPr>
          <p:cNvPr id="6" name="Text 4"/>
          <p:cNvSpPr txBox="1"/>
          <p:nvPr/>
        </p:nvSpPr>
        <p:spPr>
          <a:xfrm>
            <a:off x="1188720" y="2185416"/>
            <a:ext cx="4846320" cy="777240"/>
          </a:xfrm>
          <a:prstGeom prst="rect">
            <a:avLst/>
          </a:prstGeom>
          <a:noFill/>
          <a:ln/>
        </p:spPr>
        <p:txBody>
          <a:bodyPr wrap="square" lIns="0" tIns="0" rIns="0" bIns="0" rtlCol="0" anchor="t"/>
          <a:lstStyle/>
          <a:p>
            <a:pPr indent="0" marL="0">
              <a:lnSpc>
                <a:spcPts val="1550"/>
              </a:lnSpc>
              <a:buNone/>
            </a:pPr>
            <a:r>
              <a:rPr lang="en-US" sz="1200" dirty="0">
                <a:solidFill>
                  <a:srgbClr val="AEC0A6"/>
                </a:solidFill>
                <a:latin typeface="Calibri" pitchFamily="34" charset="0"/>
                <a:ea typeface="Calibri" pitchFamily="34" charset="-122"/>
                <a:cs typeface="Calibri" pitchFamily="34" charset="-120"/>
              </a:rPr>
              <a:t>Three environmentally distinct regimes; all variables except soil pH differ at p &lt; 0.001.</a:t>
            </a:r>
            <a:endParaRPr lang="en-US" sz="1200" dirty="0"/>
          </a:p>
        </p:txBody>
      </p:sp>
      <p:sp>
        <p:nvSpPr>
          <p:cNvPr id="7" name="Text 5"/>
          <p:cNvSpPr txBox="1"/>
          <p:nvPr/>
        </p:nvSpPr>
        <p:spPr>
          <a:xfrm>
            <a:off x="6309360" y="1874520"/>
            <a:ext cx="548640" cy="320040"/>
          </a:xfrm>
          <a:prstGeom prst="rect">
            <a:avLst/>
          </a:prstGeom>
          <a:noFill/>
          <a:ln/>
        </p:spPr>
        <p:txBody>
          <a:bodyPr wrap="square" lIns="0" tIns="0" rIns="0" bIns="0" rtlCol="0" anchor="ctr"/>
          <a:lstStyle/>
          <a:p>
            <a:pPr indent="0" marL="0">
              <a:buNone/>
            </a:pPr>
            <a:r>
              <a:rPr lang="en-US" sz="1800" b="1" dirty="0">
                <a:solidFill>
                  <a:srgbClr val="97BC62"/>
                </a:solidFill>
                <a:latin typeface="Cambria" pitchFamily="34" charset="0"/>
                <a:ea typeface="Cambria" pitchFamily="34" charset="-122"/>
                <a:cs typeface="Cambria" pitchFamily="34" charset="-120"/>
              </a:rPr>
              <a:t>02</a:t>
            </a:r>
            <a:endParaRPr lang="en-US" sz="1800" dirty="0"/>
          </a:p>
        </p:txBody>
      </p:sp>
      <p:sp>
        <p:nvSpPr>
          <p:cNvPr id="8" name="Text 6"/>
          <p:cNvSpPr txBox="1"/>
          <p:nvPr/>
        </p:nvSpPr>
        <p:spPr>
          <a:xfrm>
            <a:off x="6949440" y="1856232"/>
            <a:ext cx="4846320" cy="3200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Yield declines in every crop</a:t>
            </a:r>
            <a:endParaRPr lang="en-US" sz="1450" dirty="0"/>
          </a:p>
        </p:txBody>
      </p:sp>
      <p:sp>
        <p:nvSpPr>
          <p:cNvPr id="9" name="Text 7"/>
          <p:cNvSpPr txBox="1"/>
          <p:nvPr/>
        </p:nvSpPr>
        <p:spPr>
          <a:xfrm>
            <a:off x="6949440" y="2185416"/>
            <a:ext cx="4846320" cy="777240"/>
          </a:xfrm>
          <a:prstGeom prst="rect">
            <a:avLst/>
          </a:prstGeom>
          <a:noFill/>
          <a:ln/>
        </p:spPr>
        <p:txBody>
          <a:bodyPr wrap="square" lIns="0" tIns="0" rIns="0" bIns="0" rtlCol="0" anchor="t"/>
          <a:lstStyle/>
          <a:p>
            <a:pPr indent="0" marL="0">
              <a:lnSpc>
                <a:spcPts val="1550"/>
              </a:lnSpc>
              <a:buNone/>
            </a:pPr>
            <a:r>
              <a:rPr lang="en-US" sz="1200" dirty="0">
                <a:solidFill>
                  <a:srgbClr val="AEC0A6"/>
                </a:solidFill>
                <a:latin typeface="Calibri" pitchFamily="34" charset="0"/>
                <a:ea typeface="Calibri" pitchFamily="34" charset="-122"/>
                <a:cs typeface="Calibri" pitchFamily="34" charset="-120"/>
              </a:rPr>
              <a:t>Kharif → Zaid falls of 22.5% to 37.0%, each significant at p &lt; 0.001.</a:t>
            </a:r>
            <a:endParaRPr lang="en-US" sz="1200" dirty="0"/>
          </a:p>
        </p:txBody>
      </p:sp>
      <p:sp>
        <p:nvSpPr>
          <p:cNvPr id="10" name="Text 8"/>
          <p:cNvSpPr txBox="1"/>
          <p:nvPr/>
        </p:nvSpPr>
        <p:spPr>
          <a:xfrm>
            <a:off x="548640" y="3474720"/>
            <a:ext cx="548640" cy="320040"/>
          </a:xfrm>
          <a:prstGeom prst="rect">
            <a:avLst/>
          </a:prstGeom>
          <a:noFill/>
          <a:ln/>
        </p:spPr>
        <p:txBody>
          <a:bodyPr wrap="square" lIns="0" tIns="0" rIns="0" bIns="0" rtlCol="0" anchor="ctr"/>
          <a:lstStyle/>
          <a:p>
            <a:pPr indent="0" marL="0">
              <a:buNone/>
            </a:pPr>
            <a:r>
              <a:rPr lang="en-US" sz="1800" b="1" dirty="0">
                <a:solidFill>
                  <a:srgbClr val="97BC62"/>
                </a:solidFill>
                <a:latin typeface="Cambria" pitchFamily="34" charset="0"/>
                <a:ea typeface="Cambria" pitchFamily="34" charset="-122"/>
                <a:cs typeface="Cambria" pitchFamily="34" charset="-120"/>
              </a:rPr>
              <a:t>03</a:t>
            </a:r>
            <a:endParaRPr lang="en-US" sz="1800" dirty="0"/>
          </a:p>
        </p:txBody>
      </p:sp>
      <p:sp>
        <p:nvSpPr>
          <p:cNvPr id="11" name="Text 9"/>
          <p:cNvSpPr txBox="1"/>
          <p:nvPr/>
        </p:nvSpPr>
        <p:spPr>
          <a:xfrm>
            <a:off x="1188720" y="3456432"/>
            <a:ext cx="4846320" cy="3200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The pooled view is misleading</a:t>
            </a:r>
            <a:endParaRPr lang="en-US" sz="1450" dirty="0"/>
          </a:p>
        </p:txBody>
      </p:sp>
      <p:sp>
        <p:nvSpPr>
          <p:cNvPr id="12" name="Text 10"/>
          <p:cNvSpPr txBox="1"/>
          <p:nvPr/>
        </p:nvSpPr>
        <p:spPr>
          <a:xfrm>
            <a:off x="1188720" y="3785616"/>
            <a:ext cx="4846320" cy="777240"/>
          </a:xfrm>
          <a:prstGeom prst="rect">
            <a:avLst/>
          </a:prstGeom>
          <a:noFill/>
          <a:ln/>
        </p:spPr>
        <p:txBody>
          <a:bodyPr wrap="square" lIns="0" tIns="0" rIns="0" bIns="0" rtlCol="0" anchor="t"/>
          <a:lstStyle/>
          <a:p>
            <a:pPr indent="0" marL="0">
              <a:lnSpc>
                <a:spcPts val="1550"/>
              </a:lnSpc>
              <a:buNone/>
            </a:pPr>
            <a:r>
              <a:rPr lang="en-US" sz="1200" dirty="0">
                <a:solidFill>
                  <a:srgbClr val="AEC0A6"/>
                </a:solidFill>
                <a:latin typeface="Calibri" pitchFamily="34" charset="0"/>
                <a:ea typeface="Calibri" pitchFamily="34" charset="-122"/>
                <a:cs typeface="Calibri" pitchFamily="34" charset="-120"/>
              </a:rPr>
              <a:t>One outlier crop hides the effect entirely — correct grouping was essential.</a:t>
            </a:r>
            <a:endParaRPr lang="en-US" sz="1200" dirty="0"/>
          </a:p>
        </p:txBody>
      </p:sp>
      <p:sp>
        <p:nvSpPr>
          <p:cNvPr id="13" name="Text 11"/>
          <p:cNvSpPr txBox="1"/>
          <p:nvPr/>
        </p:nvSpPr>
        <p:spPr>
          <a:xfrm>
            <a:off x="6309360" y="3474720"/>
            <a:ext cx="548640" cy="320040"/>
          </a:xfrm>
          <a:prstGeom prst="rect">
            <a:avLst/>
          </a:prstGeom>
          <a:noFill/>
          <a:ln/>
        </p:spPr>
        <p:txBody>
          <a:bodyPr wrap="square" lIns="0" tIns="0" rIns="0" bIns="0" rtlCol="0" anchor="ctr"/>
          <a:lstStyle/>
          <a:p>
            <a:pPr indent="0" marL="0">
              <a:buNone/>
            </a:pPr>
            <a:r>
              <a:rPr lang="en-US" sz="1800" b="1" dirty="0">
                <a:solidFill>
                  <a:srgbClr val="97BC62"/>
                </a:solidFill>
                <a:latin typeface="Cambria" pitchFamily="34" charset="0"/>
                <a:ea typeface="Cambria" pitchFamily="34" charset="-122"/>
                <a:cs typeface="Cambria" pitchFamily="34" charset="-120"/>
              </a:rPr>
              <a:t>04</a:t>
            </a:r>
            <a:endParaRPr lang="en-US" sz="1800" dirty="0"/>
          </a:p>
        </p:txBody>
      </p:sp>
      <p:sp>
        <p:nvSpPr>
          <p:cNvPr id="14" name="Text 12"/>
          <p:cNvSpPr txBox="1"/>
          <p:nvPr/>
        </p:nvSpPr>
        <p:spPr>
          <a:xfrm>
            <a:off x="6949440" y="3456432"/>
            <a:ext cx="4846320" cy="3200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Profit is the amplified signal</a:t>
            </a:r>
            <a:endParaRPr lang="en-US" sz="1450" dirty="0"/>
          </a:p>
        </p:txBody>
      </p:sp>
      <p:sp>
        <p:nvSpPr>
          <p:cNvPr id="15" name="Text 13"/>
          <p:cNvSpPr txBox="1"/>
          <p:nvPr/>
        </p:nvSpPr>
        <p:spPr>
          <a:xfrm>
            <a:off x="6949440" y="3785616"/>
            <a:ext cx="4846320" cy="777240"/>
          </a:xfrm>
          <a:prstGeom prst="rect">
            <a:avLst/>
          </a:prstGeom>
          <a:noFill/>
          <a:ln/>
        </p:spPr>
        <p:txBody>
          <a:bodyPr wrap="square" lIns="0" tIns="0" rIns="0" bIns="0" rtlCol="0" anchor="t"/>
          <a:lstStyle/>
          <a:p>
            <a:pPr indent="0" marL="0">
              <a:lnSpc>
                <a:spcPts val="1550"/>
              </a:lnSpc>
              <a:buNone/>
            </a:pPr>
            <a:r>
              <a:rPr lang="en-US" sz="1200" dirty="0">
                <a:solidFill>
                  <a:srgbClr val="AEC0A6"/>
                </a:solidFill>
                <a:latin typeface="Calibri" pitchFamily="34" charset="0"/>
                <a:ea typeface="Calibri" pitchFamily="34" charset="-122"/>
                <a:cs typeface="Calibri" pitchFamily="34" charset="-120"/>
              </a:rPr>
              <a:t>₹21,882 → ₹10,362 → −₹2,637 per hectare across the three seasons.</a:t>
            </a:r>
            <a:endParaRPr lang="en-US" sz="1200" dirty="0"/>
          </a:p>
        </p:txBody>
      </p:sp>
      <p:sp>
        <p:nvSpPr>
          <p:cNvPr id="16" name="Text 14"/>
          <p:cNvSpPr txBox="1"/>
          <p:nvPr/>
        </p:nvSpPr>
        <p:spPr>
          <a:xfrm>
            <a:off x="548640" y="5074920"/>
            <a:ext cx="548640" cy="320040"/>
          </a:xfrm>
          <a:prstGeom prst="rect">
            <a:avLst/>
          </a:prstGeom>
          <a:noFill/>
          <a:ln/>
        </p:spPr>
        <p:txBody>
          <a:bodyPr wrap="square" lIns="0" tIns="0" rIns="0" bIns="0" rtlCol="0" anchor="ctr"/>
          <a:lstStyle/>
          <a:p>
            <a:pPr indent="0" marL="0">
              <a:buNone/>
            </a:pPr>
            <a:r>
              <a:rPr lang="en-US" sz="1800" b="1" dirty="0">
                <a:solidFill>
                  <a:srgbClr val="97BC62"/>
                </a:solidFill>
                <a:latin typeface="Cambria" pitchFamily="34" charset="0"/>
                <a:ea typeface="Cambria" pitchFamily="34" charset="-122"/>
                <a:cs typeface="Cambria" pitchFamily="34" charset="-120"/>
              </a:rPr>
              <a:t>05</a:t>
            </a:r>
            <a:endParaRPr lang="en-US" sz="1800" dirty="0"/>
          </a:p>
        </p:txBody>
      </p:sp>
      <p:sp>
        <p:nvSpPr>
          <p:cNvPr id="17" name="Text 15"/>
          <p:cNvSpPr txBox="1"/>
          <p:nvPr/>
        </p:nvSpPr>
        <p:spPr>
          <a:xfrm>
            <a:off x="1188720" y="5056632"/>
            <a:ext cx="4846320" cy="3200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The cause is volume, not price</a:t>
            </a:r>
            <a:endParaRPr lang="en-US" sz="1450" dirty="0"/>
          </a:p>
        </p:txBody>
      </p:sp>
      <p:sp>
        <p:nvSpPr>
          <p:cNvPr id="18" name="Text 16"/>
          <p:cNvSpPr txBox="1"/>
          <p:nvPr/>
        </p:nvSpPr>
        <p:spPr>
          <a:xfrm>
            <a:off x="1188720" y="5385816"/>
            <a:ext cx="4846320" cy="777240"/>
          </a:xfrm>
          <a:prstGeom prst="rect">
            <a:avLst/>
          </a:prstGeom>
          <a:noFill/>
          <a:ln/>
        </p:spPr>
        <p:txBody>
          <a:bodyPr wrap="square" lIns="0" tIns="0" rIns="0" bIns="0" rtlCol="0" anchor="t"/>
          <a:lstStyle/>
          <a:p>
            <a:pPr indent="0" marL="0">
              <a:lnSpc>
                <a:spcPts val="1550"/>
              </a:lnSpc>
              <a:buNone/>
            </a:pPr>
            <a:r>
              <a:rPr lang="en-US" sz="1200" dirty="0">
                <a:solidFill>
                  <a:srgbClr val="AEC0A6"/>
                </a:solidFill>
                <a:latin typeface="Calibri" pitchFamily="34" charset="0"/>
                <a:ea typeface="Calibri" pitchFamily="34" charset="-122"/>
                <a:cs typeface="Calibri" pitchFamily="34" charset="-120"/>
              </a:rPr>
              <a:t>Prices move under 3.5%; costs are flat. Revenue falls 27% on output alone.</a:t>
            </a:r>
            <a:endParaRPr lang="en-US" sz="1200" dirty="0"/>
          </a:p>
        </p:txBody>
      </p:sp>
      <p:sp>
        <p:nvSpPr>
          <p:cNvPr id="19" name="Text 17"/>
          <p:cNvSpPr txBox="1"/>
          <p:nvPr/>
        </p:nvSpPr>
        <p:spPr>
          <a:xfrm>
            <a:off x="6309360" y="5074920"/>
            <a:ext cx="548640" cy="320040"/>
          </a:xfrm>
          <a:prstGeom prst="rect">
            <a:avLst/>
          </a:prstGeom>
          <a:noFill/>
          <a:ln/>
        </p:spPr>
        <p:txBody>
          <a:bodyPr wrap="square" lIns="0" tIns="0" rIns="0" bIns="0" rtlCol="0" anchor="ctr"/>
          <a:lstStyle/>
          <a:p>
            <a:pPr indent="0" marL="0">
              <a:buNone/>
            </a:pPr>
            <a:r>
              <a:rPr lang="en-US" sz="1800" b="1" dirty="0">
                <a:solidFill>
                  <a:srgbClr val="97BC62"/>
                </a:solidFill>
                <a:latin typeface="Cambria" pitchFamily="34" charset="0"/>
                <a:ea typeface="Cambria" pitchFamily="34" charset="-122"/>
                <a:cs typeface="Cambria" pitchFamily="34" charset="-120"/>
              </a:rPr>
              <a:t>06</a:t>
            </a:r>
            <a:endParaRPr lang="en-US" sz="1800" dirty="0"/>
          </a:p>
        </p:txBody>
      </p:sp>
      <p:sp>
        <p:nvSpPr>
          <p:cNvPr id="20" name="Text 18"/>
          <p:cNvSpPr txBox="1"/>
          <p:nvPr/>
        </p:nvSpPr>
        <p:spPr>
          <a:xfrm>
            <a:off x="6949440" y="5056632"/>
            <a:ext cx="4846320" cy="3200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Method choice is the fixable gap</a:t>
            </a:r>
            <a:endParaRPr lang="en-US" sz="1450" dirty="0"/>
          </a:p>
        </p:txBody>
      </p:sp>
      <p:sp>
        <p:nvSpPr>
          <p:cNvPr id="21" name="Text 19"/>
          <p:cNvSpPr txBox="1"/>
          <p:nvPr/>
        </p:nvSpPr>
        <p:spPr>
          <a:xfrm>
            <a:off x="6949440" y="5385816"/>
            <a:ext cx="4846320" cy="777240"/>
          </a:xfrm>
          <a:prstGeom prst="rect">
            <a:avLst/>
          </a:prstGeom>
          <a:noFill/>
          <a:ln/>
        </p:spPr>
        <p:txBody>
          <a:bodyPr wrap="square" lIns="0" tIns="0" rIns="0" bIns="0" rtlCol="0" anchor="t"/>
          <a:lstStyle/>
          <a:p>
            <a:pPr indent="0" marL="0">
              <a:lnSpc>
                <a:spcPts val="1550"/>
              </a:lnSpc>
              <a:buNone/>
            </a:pPr>
            <a:r>
              <a:rPr lang="en-US" sz="1200" dirty="0">
                <a:solidFill>
                  <a:srgbClr val="AEC0A6"/>
                </a:solidFill>
                <a:latin typeface="Calibri" pitchFamily="34" charset="0"/>
                <a:ea typeface="Calibri" pitchFamily="34" charset="-122"/>
                <a:cs typeface="Calibri" pitchFamily="34" charset="-120"/>
              </a:rPr>
              <a:t>Irrigation is chosen independently of season (p = 0.74) but its outcome is not.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9260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FROM EVIDENCE TO ACTION</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200" b="1" dirty="0">
                <a:solidFill>
                  <a:srgbClr val="1B3A1C"/>
                </a:solidFill>
                <a:latin typeface="Cambria" pitchFamily="34" charset="0"/>
                <a:ea typeface="Cambria" pitchFamily="34" charset="-122"/>
                <a:cs typeface="Cambria" pitchFamily="34" charset="-120"/>
              </a:rPr>
              <a:t>Recommendations</a:t>
            </a:r>
            <a:endParaRPr lang="en-US" sz="3200" dirty="0"/>
          </a:p>
        </p:txBody>
      </p:sp>
      <p:sp>
        <p:nvSpPr>
          <p:cNvPr id="4" name="Shape 2"/>
          <p:cNvSpPr/>
          <p:nvPr/>
        </p:nvSpPr>
        <p:spPr>
          <a:xfrm>
            <a:off x="548640" y="1463040"/>
            <a:ext cx="5486400" cy="4206240"/>
          </a:xfrm>
          <a:prstGeom prst="roundRect">
            <a:avLst>
              <a:gd name="adj" fmla="val 1739"/>
            </a:avLst>
          </a:prstGeom>
          <a:solidFill>
            <a:srgbClr val="F4F6F0"/>
          </a:solidFill>
          <a:ln w="12700">
            <a:solidFill>
              <a:srgbClr val="E2E7DC"/>
            </a:solidFill>
            <a:prstDash val="solid"/>
          </a:ln>
        </p:spPr>
      </p:sp>
      <p:sp>
        <p:nvSpPr>
          <p:cNvPr id="5" name="Text 3"/>
          <p:cNvSpPr txBox="1"/>
          <p:nvPr/>
        </p:nvSpPr>
        <p:spPr>
          <a:xfrm>
            <a:off x="868680" y="1737360"/>
            <a:ext cx="4846320" cy="256032"/>
          </a:xfrm>
          <a:prstGeom prst="rect">
            <a:avLst/>
          </a:prstGeom>
          <a:noFill/>
          <a:ln/>
        </p:spPr>
        <p:txBody>
          <a:bodyPr wrap="square" lIns="0" tIns="0" rIns="0" bIns="0" rtlCol="0" anchor="ctr"/>
          <a:lstStyle/>
          <a:p>
            <a:pPr indent="0" marL="0">
              <a:buNone/>
            </a:pPr>
            <a:r>
              <a:rPr lang="en-US" sz="1100" b="1" spc="150" kern="0" dirty="0">
                <a:solidFill>
                  <a:srgbClr val="2C5F2D"/>
                </a:solidFill>
                <a:latin typeface="Calibri" pitchFamily="34" charset="0"/>
                <a:ea typeface="Calibri" pitchFamily="34" charset="-122"/>
                <a:cs typeface="Calibri" pitchFamily="34" charset="-120"/>
              </a:rPr>
              <a:t>FOR FARMERS</a:t>
            </a:r>
            <a:endParaRPr lang="en-US" sz="1100" dirty="0"/>
          </a:p>
        </p:txBody>
      </p:sp>
      <p:sp>
        <p:nvSpPr>
          <p:cNvPr id="6" name="Text 4"/>
          <p:cNvSpPr txBox="1"/>
          <p:nvPr/>
        </p:nvSpPr>
        <p:spPr>
          <a:xfrm>
            <a:off x="868680" y="2103120"/>
            <a:ext cx="4846320" cy="3291840"/>
          </a:xfrm>
          <a:prstGeom prst="rect">
            <a:avLst/>
          </a:prstGeom>
          <a:noFill/>
          <a:ln/>
        </p:spPr>
        <p:txBody>
          <a:bodyPr wrap="square" lIns="0" tIns="0" rIns="0" bIns="0" rtlCol="0" anchor="ctr"/>
          <a:lstStyle/>
          <a:p>
            <a:pPr marL="342900" indent="-342900">
              <a:lnSpc>
                <a:spcPts val="1700"/>
              </a:lnSpc>
              <a:spcAft>
                <a:spcPts val="1100"/>
              </a:spcAft>
              <a:buSzPct val="100000"/>
              <a:buChar char="•"/>
            </a:pPr>
            <a:r>
              <a:rPr lang="en-US" sz="1250" dirty="0">
                <a:solidFill>
                  <a:srgbClr val="22301F"/>
                </a:solidFill>
                <a:latin typeface="Calibri" pitchFamily="34" charset="0"/>
                <a:ea typeface="Calibri" pitchFamily="34" charset="-122"/>
                <a:cs typeface="Calibri" pitchFamily="34" charset="-120"/>
              </a:rPr>
              <a:t>Switch irrigation method by season, not by habit — the Zaid gap between best and worst method is ≈ ₹19,000 per hectare.</a:t>
            </a:r>
            <a:endParaRPr lang="en-US" sz="1250" dirty="0"/>
          </a:p>
          <a:p>
            <a:pPr marL="342900" indent="-342900">
              <a:lnSpc>
                <a:spcPts val="1700"/>
              </a:lnSpc>
              <a:spcAft>
                <a:spcPts val="1100"/>
              </a:spcAft>
              <a:buSzPct val="100000"/>
              <a:buChar char="•"/>
            </a:pPr>
            <a:r>
              <a:rPr lang="en-US" sz="1250" dirty="0">
                <a:solidFill>
                  <a:srgbClr val="22301F"/>
                </a:solidFill>
                <a:latin typeface="Calibri" pitchFamily="34" charset="0"/>
                <a:ea typeface="Calibri" pitchFamily="34" charset="-122"/>
                <a:cs typeface="Calibri" pitchFamily="34" charset="-120"/>
              </a:rPr>
              <a:t>Treat Zaid as a cost-control season: with only 35.5% of farms profitable, trimming input spend beats chasing yield.</a:t>
            </a:r>
            <a:endParaRPr lang="en-US" sz="1250" dirty="0"/>
          </a:p>
          <a:p>
            <a:pPr marL="342900" indent="-342900">
              <a:lnSpc>
                <a:spcPts val="1700"/>
              </a:lnSpc>
              <a:spcAft>
                <a:spcPts val="1100"/>
              </a:spcAft>
              <a:buSzPct val="100000"/>
              <a:buChar char="•"/>
            </a:pPr>
            <a:r>
              <a:rPr lang="en-US" sz="1250" dirty="0">
                <a:solidFill>
                  <a:srgbClr val="22301F"/>
                </a:solidFill>
                <a:latin typeface="Calibri" pitchFamily="34" charset="0"/>
                <a:ea typeface="Calibri" pitchFamily="34" charset="-122"/>
                <a:cs typeface="Calibri" pitchFamily="34" charset="-120"/>
              </a:rPr>
              <a:t>Match crop protection to seasonal risk — Kharif carries 43% more disease pressure but the same pesticide intensity.</a:t>
            </a:r>
            <a:endParaRPr lang="en-US" sz="1250" dirty="0"/>
          </a:p>
          <a:p>
            <a:pPr marL="342900" indent="-342900">
              <a:lnSpc>
                <a:spcPts val="1700"/>
              </a:lnSpc>
              <a:spcAft>
                <a:spcPts val="1100"/>
              </a:spcAft>
              <a:buSzPct val="100000"/>
              <a:buChar char="•"/>
            </a:pPr>
            <a:r>
              <a:rPr lang="en-US" sz="1250" dirty="0">
                <a:solidFill>
                  <a:srgbClr val="22301F"/>
                </a:solidFill>
                <a:latin typeface="Calibri" pitchFamily="34" charset="0"/>
                <a:ea typeface="Calibri" pitchFamily="34" charset="-122"/>
                <a:cs typeface="Calibri" pitchFamily="34" charset="-120"/>
              </a:rPr>
              <a:t>Prefer wheat and maize for Zaid; they lose the least (−22.5%, −22.6%) against pulses at −37.0%.</a:t>
            </a:r>
            <a:endParaRPr lang="en-US" sz="1250" dirty="0"/>
          </a:p>
        </p:txBody>
      </p:sp>
      <p:sp>
        <p:nvSpPr>
          <p:cNvPr id="7" name="Shape 5"/>
          <p:cNvSpPr/>
          <p:nvPr/>
        </p:nvSpPr>
        <p:spPr>
          <a:xfrm>
            <a:off x="6309360" y="1463040"/>
            <a:ext cx="5394960" cy="4206240"/>
          </a:xfrm>
          <a:prstGeom prst="roundRect">
            <a:avLst>
              <a:gd name="adj" fmla="val 1739"/>
            </a:avLst>
          </a:prstGeom>
          <a:solidFill>
            <a:srgbClr val="2C5F2D"/>
          </a:solidFill>
          <a:ln/>
        </p:spPr>
      </p:sp>
      <p:sp>
        <p:nvSpPr>
          <p:cNvPr id="8" name="Text 6"/>
          <p:cNvSpPr txBox="1"/>
          <p:nvPr/>
        </p:nvSpPr>
        <p:spPr>
          <a:xfrm>
            <a:off x="6629400" y="1737360"/>
            <a:ext cx="4754880" cy="256032"/>
          </a:xfrm>
          <a:prstGeom prst="rect">
            <a:avLst/>
          </a:prstGeom>
          <a:noFill/>
          <a:ln/>
        </p:spPr>
        <p:txBody>
          <a:bodyPr wrap="square" lIns="0" tIns="0" rIns="0" bIns="0" rtlCol="0" anchor="ctr"/>
          <a:lstStyle/>
          <a:p>
            <a:pPr indent="0" marL="0">
              <a:buNone/>
            </a:pPr>
            <a:r>
              <a:rPr lang="en-US" sz="1100" b="1" spc="150" kern="0" dirty="0">
                <a:solidFill>
                  <a:srgbClr val="97BC62"/>
                </a:solidFill>
                <a:latin typeface="Calibri" pitchFamily="34" charset="0"/>
                <a:ea typeface="Calibri" pitchFamily="34" charset="-122"/>
                <a:cs typeface="Calibri" pitchFamily="34" charset="-120"/>
              </a:rPr>
              <a:t>FOR PLANNERS &amp; INSTITUTIONS</a:t>
            </a:r>
            <a:endParaRPr lang="en-US" sz="1100" dirty="0"/>
          </a:p>
        </p:txBody>
      </p:sp>
      <p:sp>
        <p:nvSpPr>
          <p:cNvPr id="9" name="Text 7"/>
          <p:cNvSpPr txBox="1"/>
          <p:nvPr/>
        </p:nvSpPr>
        <p:spPr>
          <a:xfrm>
            <a:off x="6629400" y="2103120"/>
            <a:ext cx="4754880" cy="3291840"/>
          </a:xfrm>
          <a:prstGeom prst="rect">
            <a:avLst/>
          </a:prstGeom>
          <a:noFill/>
          <a:ln/>
        </p:spPr>
        <p:txBody>
          <a:bodyPr wrap="square" lIns="0" tIns="0" rIns="0" bIns="0" rtlCol="0" anchor="ctr"/>
          <a:lstStyle/>
          <a:p>
            <a:pPr marL="342900" indent="-342900">
              <a:lnSpc>
                <a:spcPts val="1700"/>
              </a:lnSpc>
              <a:spcAft>
                <a:spcPts val="1100"/>
              </a:spcAft>
              <a:buSzPct val="100000"/>
              <a:buChar char="•"/>
            </a:pPr>
            <a:r>
              <a:rPr lang="en-US" sz="1250" dirty="0">
                <a:solidFill>
                  <a:srgbClr val="FFFFFF"/>
                </a:solidFill>
                <a:latin typeface="Calibri" pitchFamily="34" charset="0"/>
                <a:ea typeface="Calibri" pitchFamily="34" charset="-122"/>
                <a:cs typeface="Calibri" pitchFamily="34" charset="-120"/>
              </a:rPr>
              <a:t>Target drip-irrigation subsidies at Zaid cultivation, where method choice decides whether a farm makes money at all.</a:t>
            </a:r>
            <a:endParaRPr lang="en-US" sz="1250" dirty="0"/>
          </a:p>
          <a:p>
            <a:pPr marL="342900" indent="-342900">
              <a:lnSpc>
                <a:spcPts val="1700"/>
              </a:lnSpc>
              <a:spcAft>
                <a:spcPts val="1100"/>
              </a:spcAft>
              <a:buSzPct val="100000"/>
              <a:buChar char="•"/>
            </a:pPr>
            <a:r>
              <a:rPr lang="en-US" sz="1250" dirty="0">
                <a:solidFill>
                  <a:srgbClr val="FFFFFF"/>
                </a:solidFill>
                <a:latin typeface="Calibri" pitchFamily="34" charset="0"/>
                <a:ea typeface="Calibri" pitchFamily="34" charset="-122"/>
                <a:cs typeface="Calibri" pitchFamily="34" charset="-120"/>
              </a:rPr>
              <a:t>Route seasonal credit and crop insurance towards Zaid — the season with the highest share of loss-making farms.</a:t>
            </a:r>
            <a:endParaRPr lang="en-US" sz="1250" dirty="0"/>
          </a:p>
          <a:p>
            <a:pPr marL="342900" indent="-342900">
              <a:lnSpc>
                <a:spcPts val="1700"/>
              </a:lnSpc>
              <a:spcAft>
                <a:spcPts val="1100"/>
              </a:spcAft>
              <a:buSzPct val="100000"/>
              <a:buChar char="•"/>
            </a:pPr>
            <a:r>
              <a:rPr lang="en-US" sz="1250" dirty="0">
                <a:solidFill>
                  <a:srgbClr val="FFFFFF"/>
                </a:solidFill>
                <a:latin typeface="Calibri" pitchFamily="34" charset="0"/>
                <a:ea typeface="Calibri" pitchFamily="34" charset="-122"/>
                <a:cs typeface="Calibri" pitchFamily="34" charset="-120"/>
              </a:rPr>
              <a:t>Study Punjab's Rabi system as a model: the only state profitable across all three seasons.</a:t>
            </a:r>
            <a:endParaRPr lang="en-US" sz="1250" dirty="0"/>
          </a:p>
          <a:p>
            <a:pPr marL="342900" indent="-342900">
              <a:lnSpc>
                <a:spcPts val="1700"/>
              </a:lnSpc>
              <a:spcAft>
                <a:spcPts val="1100"/>
              </a:spcAft>
              <a:buSzPct val="100000"/>
              <a:buChar char="•"/>
            </a:pPr>
            <a:r>
              <a:rPr lang="en-US" sz="1250" dirty="0">
                <a:solidFill>
                  <a:srgbClr val="FFFFFF"/>
                </a:solidFill>
                <a:latin typeface="Calibri" pitchFamily="34" charset="0"/>
                <a:ea typeface="Calibri" pitchFamily="34" charset="-122"/>
                <a:cs typeface="Calibri" pitchFamily="34" charset="-120"/>
              </a:rPr>
              <a:t>Always disaggregate by crop before comparing seasons — pooled agricultural comparisons can invert the true relationship.</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9260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WHERE THIS GOES NEXT</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200" b="1" dirty="0">
                <a:solidFill>
                  <a:srgbClr val="1B3A1C"/>
                </a:solidFill>
                <a:latin typeface="Cambria" pitchFamily="34" charset="0"/>
                <a:ea typeface="Cambria" pitchFamily="34" charset="-122"/>
                <a:cs typeface="Cambria" pitchFamily="34" charset="-120"/>
              </a:rPr>
              <a:t>Future Scope</a:t>
            </a:r>
            <a:endParaRPr lang="en-US" sz="3200" dirty="0"/>
          </a:p>
        </p:txBody>
      </p:sp>
      <p:sp>
        <p:nvSpPr>
          <p:cNvPr id="4" name="Shape 2"/>
          <p:cNvSpPr/>
          <p:nvPr/>
        </p:nvSpPr>
        <p:spPr>
          <a:xfrm>
            <a:off x="548640" y="1645920"/>
            <a:ext cx="3474720" cy="1965960"/>
          </a:xfrm>
          <a:prstGeom prst="roundRect">
            <a:avLst>
              <a:gd name="adj" fmla="val 3721"/>
            </a:avLst>
          </a:prstGeom>
          <a:solidFill>
            <a:srgbClr val="F4F6F0"/>
          </a:solidFill>
          <a:ln w="12700">
            <a:solidFill>
              <a:srgbClr val="E2E7DC"/>
            </a:solidFill>
            <a:prstDash val="solid"/>
          </a:ln>
        </p:spPr>
      </p:sp>
      <p:sp>
        <p:nvSpPr>
          <p:cNvPr id="5" name="Shape 3"/>
          <p:cNvSpPr/>
          <p:nvPr/>
        </p:nvSpPr>
        <p:spPr>
          <a:xfrm>
            <a:off x="822960" y="1901952"/>
            <a:ext cx="365760" cy="365760"/>
          </a:xfrm>
          <a:prstGeom prst="ellipse">
            <a:avLst/>
          </a:prstGeom>
          <a:solidFill>
            <a:srgbClr val="97BC62"/>
          </a:solidFill>
          <a:ln/>
        </p:spPr>
      </p:sp>
      <p:sp>
        <p:nvSpPr>
          <p:cNvPr id="6" name="Text 4"/>
          <p:cNvSpPr txBox="1"/>
          <p:nvPr/>
        </p:nvSpPr>
        <p:spPr>
          <a:xfrm>
            <a:off x="822960" y="1947672"/>
            <a:ext cx="365760" cy="274320"/>
          </a:xfrm>
          <a:prstGeom prst="rect">
            <a:avLst/>
          </a:prstGeom>
          <a:noFill/>
          <a:ln/>
        </p:spPr>
        <p:txBody>
          <a:bodyPr wrap="square" lIns="0" tIns="0" rIns="0" bIns="0" rtlCol="0" anchor="ctr"/>
          <a:lstStyle/>
          <a:p>
            <a:pPr algn="ctr" indent="0" marL="0">
              <a:buNone/>
            </a:pPr>
            <a:r>
              <a:rPr lang="en-US" sz="1250" b="1" dirty="0">
                <a:solidFill>
                  <a:srgbClr val="1B3A1C"/>
                </a:solidFill>
                <a:latin typeface="Calibri" pitchFamily="34" charset="0"/>
                <a:ea typeface="Calibri" pitchFamily="34" charset="-122"/>
                <a:cs typeface="Calibri" pitchFamily="34" charset="-120"/>
              </a:rPr>
              <a:t>1</a:t>
            </a:r>
            <a:endParaRPr lang="en-US" sz="1250" dirty="0"/>
          </a:p>
        </p:txBody>
      </p:sp>
      <p:sp>
        <p:nvSpPr>
          <p:cNvPr id="7" name="Text 5"/>
          <p:cNvSpPr txBox="1"/>
          <p:nvPr/>
        </p:nvSpPr>
        <p:spPr>
          <a:xfrm>
            <a:off x="1298448" y="1938528"/>
            <a:ext cx="2514600" cy="320040"/>
          </a:xfrm>
          <a:prstGeom prst="rect">
            <a:avLst/>
          </a:prstGeom>
          <a:noFill/>
          <a:ln/>
        </p:spPr>
        <p:txBody>
          <a:bodyPr wrap="square" lIns="0" tIns="0" rIns="0" bIns="0" rtlCol="0" anchor="ctr"/>
          <a:lstStyle/>
          <a:p>
            <a:pPr indent="0" marL="0">
              <a:buNone/>
            </a:pPr>
            <a:r>
              <a:rPr lang="en-US" sz="1350" b="1" dirty="0">
                <a:solidFill>
                  <a:srgbClr val="1B3A1C"/>
                </a:solidFill>
                <a:latin typeface="Calibri" pitchFamily="34" charset="0"/>
                <a:ea typeface="Calibri" pitchFamily="34" charset="-122"/>
                <a:cs typeface="Calibri" pitchFamily="34" charset="-120"/>
              </a:rPr>
              <a:t>Predictive modelling</a:t>
            </a:r>
            <a:endParaRPr lang="en-US" sz="1350" dirty="0"/>
          </a:p>
        </p:txBody>
      </p:sp>
      <p:sp>
        <p:nvSpPr>
          <p:cNvPr id="8" name="Text 6"/>
          <p:cNvSpPr txBox="1"/>
          <p:nvPr/>
        </p:nvSpPr>
        <p:spPr>
          <a:xfrm>
            <a:off x="822960" y="2377440"/>
            <a:ext cx="2926080" cy="1143000"/>
          </a:xfrm>
          <a:prstGeom prst="rect">
            <a:avLst/>
          </a:prstGeom>
          <a:noFill/>
          <a:ln/>
        </p:spPr>
        <p:txBody>
          <a:bodyPr wrap="square" lIns="0" tIns="0" rIns="0" bIns="0" rtlCol="0" anchor="t"/>
          <a:lstStyle/>
          <a:p>
            <a:pPr indent="0" marL="0">
              <a:lnSpc>
                <a:spcPts val="1450"/>
              </a:lnSpc>
              <a:buNone/>
            </a:pPr>
            <a:r>
              <a:rPr lang="en-US" sz="1150" dirty="0">
                <a:solidFill>
                  <a:srgbClr val="5E6B5A"/>
                </a:solidFill>
                <a:latin typeface="Calibri" pitchFamily="34" charset="0"/>
                <a:ea typeface="Calibri" pitchFamily="34" charset="-122"/>
                <a:cs typeface="Calibri" pitchFamily="34" charset="-120"/>
              </a:rPr>
              <a:t>Train a regression or gradient-boosting model to forecast yield and profit from sowing-time conditions, turning a descriptive analysis into a planning tool.</a:t>
            </a:r>
            <a:endParaRPr lang="en-US" sz="1150" dirty="0"/>
          </a:p>
        </p:txBody>
      </p:sp>
      <p:sp>
        <p:nvSpPr>
          <p:cNvPr id="9" name="Shape 7"/>
          <p:cNvSpPr/>
          <p:nvPr/>
        </p:nvSpPr>
        <p:spPr>
          <a:xfrm>
            <a:off x="4343400" y="1645920"/>
            <a:ext cx="3474720" cy="1965960"/>
          </a:xfrm>
          <a:prstGeom prst="roundRect">
            <a:avLst>
              <a:gd name="adj" fmla="val 3721"/>
            </a:avLst>
          </a:prstGeom>
          <a:solidFill>
            <a:srgbClr val="F4F6F0"/>
          </a:solidFill>
          <a:ln w="12700">
            <a:solidFill>
              <a:srgbClr val="E2E7DC"/>
            </a:solidFill>
            <a:prstDash val="solid"/>
          </a:ln>
        </p:spPr>
      </p:sp>
      <p:sp>
        <p:nvSpPr>
          <p:cNvPr id="10" name="Shape 8"/>
          <p:cNvSpPr/>
          <p:nvPr/>
        </p:nvSpPr>
        <p:spPr>
          <a:xfrm>
            <a:off x="4617720" y="1901952"/>
            <a:ext cx="365760" cy="365760"/>
          </a:xfrm>
          <a:prstGeom prst="ellipse">
            <a:avLst/>
          </a:prstGeom>
          <a:solidFill>
            <a:srgbClr val="97BC62"/>
          </a:solidFill>
          <a:ln/>
        </p:spPr>
      </p:sp>
      <p:sp>
        <p:nvSpPr>
          <p:cNvPr id="11" name="Text 9"/>
          <p:cNvSpPr txBox="1"/>
          <p:nvPr/>
        </p:nvSpPr>
        <p:spPr>
          <a:xfrm>
            <a:off x="4617720" y="1947672"/>
            <a:ext cx="365760" cy="274320"/>
          </a:xfrm>
          <a:prstGeom prst="rect">
            <a:avLst/>
          </a:prstGeom>
          <a:noFill/>
          <a:ln/>
        </p:spPr>
        <p:txBody>
          <a:bodyPr wrap="square" lIns="0" tIns="0" rIns="0" bIns="0" rtlCol="0" anchor="ctr"/>
          <a:lstStyle/>
          <a:p>
            <a:pPr algn="ctr" indent="0" marL="0">
              <a:buNone/>
            </a:pPr>
            <a:r>
              <a:rPr lang="en-US" sz="1250" b="1" dirty="0">
                <a:solidFill>
                  <a:srgbClr val="1B3A1C"/>
                </a:solidFill>
                <a:latin typeface="Calibri" pitchFamily="34" charset="0"/>
                <a:ea typeface="Calibri" pitchFamily="34" charset="-122"/>
                <a:cs typeface="Calibri" pitchFamily="34" charset="-120"/>
              </a:rPr>
              <a:t>2</a:t>
            </a:r>
            <a:endParaRPr lang="en-US" sz="1250" dirty="0"/>
          </a:p>
        </p:txBody>
      </p:sp>
      <p:sp>
        <p:nvSpPr>
          <p:cNvPr id="12" name="Text 10"/>
          <p:cNvSpPr txBox="1"/>
          <p:nvPr/>
        </p:nvSpPr>
        <p:spPr>
          <a:xfrm>
            <a:off x="5093208" y="1938528"/>
            <a:ext cx="2514600" cy="320040"/>
          </a:xfrm>
          <a:prstGeom prst="rect">
            <a:avLst/>
          </a:prstGeom>
          <a:noFill/>
          <a:ln/>
        </p:spPr>
        <p:txBody>
          <a:bodyPr wrap="square" lIns="0" tIns="0" rIns="0" bIns="0" rtlCol="0" anchor="ctr"/>
          <a:lstStyle/>
          <a:p>
            <a:pPr indent="0" marL="0">
              <a:buNone/>
            </a:pPr>
            <a:r>
              <a:rPr lang="en-US" sz="1350" b="1" dirty="0">
                <a:solidFill>
                  <a:srgbClr val="1B3A1C"/>
                </a:solidFill>
                <a:latin typeface="Calibri" pitchFamily="34" charset="0"/>
                <a:ea typeface="Calibri" pitchFamily="34" charset="-122"/>
                <a:cs typeface="Calibri" pitchFamily="34" charset="-120"/>
              </a:rPr>
              <a:t>Multi-year data</a:t>
            </a:r>
            <a:endParaRPr lang="en-US" sz="1350" dirty="0"/>
          </a:p>
        </p:txBody>
      </p:sp>
      <p:sp>
        <p:nvSpPr>
          <p:cNvPr id="13" name="Text 11"/>
          <p:cNvSpPr txBox="1"/>
          <p:nvPr/>
        </p:nvSpPr>
        <p:spPr>
          <a:xfrm>
            <a:off x="4617720" y="2377440"/>
            <a:ext cx="2926080" cy="1143000"/>
          </a:xfrm>
          <a:prstGeom prst="rect">
            <a:avLst/>
          </a:prstGeom>
          <a:noFill/>
          <a:ln/>
        </p:spPr>
        <p:txBody>
          <a:bodyPr wrap="square" lIns="0" tIns="0" rIns="0" bIns="0" rtlCol="0" anchor="t"/>
          <a:lstStyle/>
          <a:p>
            <a:pPr indent="0" marL="0">
              <a:lnSpc>
                <a:spcPts val="1450"/>
              </a:lnSpc>
              <a:buNone/>
            </a:pPr>
            <a:r>
              <a:rPr lang="en-US" sz="1150" dirty="0">
                <a:solidFill>
                  <a:srgbClr val="5E6B5A"/>
                </a:solidFill>
                <a:latin typeface="Calibri" pitchFamily="34" charset="0"/>
                <a:ea typeface="Calibri" pitchFamily="34" charset="-122"/>
                <a:cs typeface="Calibri" pitchFamily="34" charset="-120"/>
              </a:rPr>
              <a:t>The current dataset is a single period. Several years would separate genuine seasonal effects from one-off weather conditions.</a:t>
            </a:r>
            <a:endParaRPr lang="en-US" sz="1150" dirty="0"/>
          </a:p>
        </p:txBody>
      </p:sp>
      <p:sp>
        <p:nvSpPr>
          <p:cNvPr id="14" name="Shape 12"/>
          <p:cNvSpPr/>
          <p:nvPr/>
        </p:nvSpPr>
        <p:spPr>
          <a:xfrm>
            <a:off x="8138160" y="1645920"/>
            <a:ext cx="3474720" cy="1965960"/>
          </a:xfrm>
          <a:prstGeom prst="roundRect">
            <a:avLst>
              <a:gd name="adj" fmla="val 3721"/>
            </a:avLst>
          </a:prstGeom>
          <a:solidFill>
            <a:srgbClr val="F4F6F0"/>
          </a:solidFill>
          <a:ln w="12700">
            <a:solidFill>
              <a:srgbClr val="E2E7DC"/>
            </a:solidFill>
            <a:prstDash val="solid"/>
          </a:ln>
        </p:spPr>
      </p:sp>
      <p:sp>
        <p:nvSpPr>
          <p:cNvPr id="15" name="Shape 13"/>
          <p:cNvSpPr/>
          <p:nvPr/>
        </p:nvSpPr>
        <p:spPr>
          <a:xfrm>
            <a:off x="8412480" y="1901952"/>
            <a:ext cx="365760" cy="365760"/>
          </a:xfrm>
          <a:prstGeom prst="ellipse">
            <a:avLst/>
          </a:prstGeom>
          <a:solidFill>
            <a:srgbClr val="97BC62"/>
          </a:solidFill>
          <a:ln/>
        </p:spPr>
      </p:sp>
      <p:sp>
        <p:nvSpPr>
          <p:cNvPr id="16" name="Text 14"/>
          <p:cNvSpPr txBox="1"/>
          <p:nvPr/>
        </p:nvSpPr>
        <p:spPr>
          <a:xfrm>
            <a:off x="8412480" y="1947672"/>
            <a:ext cx="365760" cy="274320"/>
          </a:xfrm>
          <a:prstGeom prst="rect">
            <a:avLst/>
          </a:prstGeom>
          <a:noFill/>
          <a:ln/>
        </p:spPr>
        <p:txBody>
          <a:bodyPr wrap="square" lIns="0" tIns="0" rIns="0" bIns="0" rtlCol="0" anchor="ctr"/>
          <a:lstStyle/>
          <a:p>
            <a:pPr algn="ctr" indent="0" marL="0">
              <a:buNone/>
            </a:pPr>
            <a:r>
              <a:rPr lang="en-US" sz="1250" b="1" dirty="0">
                <a:solidFill>
                  <a:srgbClr val="1B3A1C"/>
                </a:solidFill>
                <a:latin typeface="Calibri" pitchFamily="34" charset="0"/>
                <a:ea typeface="Calibri" pitchFamily="34" charset="-122"/>
                <a:cs typeface="Calibri" pitchFamily="34" charset="-120"/>
              </a:rPr>
              <a:t>3</a:t>
            </a:r>
            <a:endParaRPr lang="en-US" sz="1250" dirty="0"/>
          </a:p>
        </p:txBody>
      </p:sp>
      <p:sp>
        <p:nvSpPr>
          <p:cNvPr id="17" name="Text 15"/>
          <p:cNvSpPr txBox="1"/>
          <p:nvPr/>
        </p:nvSpPr>
        <p:spPr>
          <a:xfrm>
            <a:off x="8887968" y="1938528"/>
            <a:ext cx="2514600" cy="320040"/>
          </a:xfrm>
          <a:prstGeom prst="rect">
            <a:avLst/>
          </a:prstGeom>
          <a:noFill/>
          <a:ln/>
        </p:spPr>
        <p:txBody>
          <a:bodyPr wrap="square" lIns="0" tIns="0" rIns="0" bIns="0" rtlCol="0" anchor="ctr"/>
          <a:lstStyle/>
          <a:p>
            <a:pPr indent="0" marL="0">
              <a:buNone/>
            </a:pPr>
            <a:r>
              <a:rPr lang="en-US" sz="1350" b="1" dirty="0">
                <a:solidFill>
                  <a:srgbClr val="1B3A1C"/>
                </a:solidFill>
                <a:latin typeface="Calibri" pitchFamily="34" charset="0"/>
                <a:ea typeface="Calibri" pitchFamily="34" charset="-122"/>
                <a:cs typeface="Calibri" pitchFamily="34" charset="-120"/>
              </a:rPr>
              <a:t>Live weather integration</a:t>
            </a:r>
            <a:endParaRPr lang="en-US" sz="1350" dirty="0"/>
          </a:p>
        </p:txBody>
      </p:sp>
      <p:sp>
        <p:nvSpPr>
          <p:cNvPr id="18" name="Text 16"/>
          <p:cNvSpPr txBox="1"/>
          <p:nvPr/>
        </p:nvSpPr>
        <p:spPr>
          <a:xfrm>
            <a:off x="8412480" y="2377440"/>
            <a:ext cx="2926080" cy="1143000"/>
          </a:xfrm>
          <a:prstGeom prst="rect">
            <a:avLst/>
          </a:prstGeom>
          <a:noFill/>
          <a:ln/>
        </p:spPr>
        <p:txBody>
          <a:bodyPr wrap="square" lIns="0" tIns="0" rIns="0" bIns="0" rtlCol="0" anchor="t"/>
          <a:lstStyle/>
          <a:p>
            <a:pPr indent="0" marL="0">
              <a:lnSpc>
                <a:spcPts val="1450"/>
              </a:lnSpc>
              <a:buNone/>
            </a:pPr>
            <a:r>
              <a:rPr lang="en-US" sz="1150" dirty="0">
                <a:solidFill>
                  <a:srgbClr val="5E6B5A"/>
                </a:solidFill>
                <a:latin typeface="Calibri" pitchFamily="34" charset="0"/>
                <a:ea typeface="Calibri" pitchFamily="34" charset="-122"/>
                <a:cs typeface="Calibri" pitchFamily="34" charset="-120"/>
              </a:rPr>
              <a:t>Connect IMD forecast APIs so seasonal guidance updates with the actual monsoon rather than historical averages.</a:t>
            </a:r>
            <a:endParaRPr lang="en-US" sz="1150" dirty="0"/>
          </a:p>
        </p:txBody>
      </p:sp>
      <p:sp>
        <p:nvSpPr>
          <p:cNvPr id="19" name="Shape 17"/>
          <p:cNvSpPr/>
          <p:nvPr/>
        </p:nvSpPr>
        <p:spPr>
          <a:xfrm>
            <a:off x="548640" y="3886200"/>
            <a:ext cx="3474720" cy="1965960"/>
          </a:xfrm>
          <a:prstGeom prst="roundRect">
            <a:avLst>
              <a:gd name="adj" fmla="val 3721"/>
            </a:avLst>
          </a:prstGeom>
          <a:solidFill>
            <a:srgbClr val="FFFFFF"/>
          </a:solidFill>
          <a:ln w="12700">
            <a:solidFill>
              <a:srgbClr val="E2E7DC"/>
            </a:solidFill>
            <a:prstDash val="solid"/>
          </a:ln>
        </p:spPr>
      </p:sp>
      <p:sp>
        <p:nvSpPr>
          <p:cNvPr id="20" name="Shape 18"/>
          <p:cNvSpPr/>
          <p:nvPr/>
        </p:nvSpPr>
        <p:spPr>
          <a:xfrm>
            <a:off x="822960" y="4142232"/>
            <a:ext cx="365760" cy="365760"/>
          </a:xfrm>
          <a:prstGeom prst="ellipse">
            <a:avLst/>
          </a:prstGeom>
          <a:solidFill>
            <a:srgbClr val="97BC62"/>
          </a:solidFill>
          <a:ln/>
        </p:spPr>
      </p:sp>
      <p:sp>
        <p:nvSpPr>
          <p:cNvPr id="21" name="Text 19"/>
          <p:cNvSpPr txBox="1"/>
          <p:nvPr/>
        </p:nvSpPr>
        <p:spPr>
          <a:xfrm>
            <a:off x="822960" y="4187952"/>
            <a:ext cx="365760" cy="274320"/>
          </a:xfrm>
          <a:prstGeom prst="rect">
            <a:avLst/>
          </a:prstGeom>
          <a:noFill/>
          <a:ln/>
        </p:spPr>
        <p:txBody>
          <a:bodyPr wrap="square" lIns="0" tIns="0" rIns="0" bIns="0" rtlCol="0" anchor="ctr"/>
          <a:lstStyle/>
          <a:p>
            <a:pPr algn="ctr" indent="0" marL="0">
              <a:buNone/>
            </a:pPr>
            <a:r>
              <a:rPr lang="en-US" sz="1250" b="1" dirty="0">
                <a:solidFill>
                  <a:srgbClr val="1B3A1C"/>
                </a:solidFill>
                <a:latin typeface="Calibri" pitchFamily="34" charset="0"/>
                <a:ea typeface="Calibri" pitchFamily="34" charset="-122"/>
                <a:cs typeface="Calibri" pitchFamily="34" charset="-120"/>
              </a:rPr>
              <a:t>4</a:t>
            </a:r>
            <a:endParaRPr lang="en-US" sz="1250" dirty="0"/>
          </a:p>
        </p:txBody>
      </p:sp>
      <p:sp>
        <p:nvSpPr>
          <p:cNvPr id="22" name="Text 20"/>
          <p:cNvSpPr txBox="1"/>
          <p:nvPr/>
        </p:nvSpPr>
        <p:spPr>
          <a:xfrm>
            <a:off x="1298448" y="4178808"/>
            <a:ext cx="2514600" cy="320040"/>
          </a:xfrm>
          <a:prstGeom prst="rect">
            <a:avLst/>
          </a:prstGeom>
          <a:noFill/>
          <a:ln/>
        </p:spPr>
        <p:txBody>
          <a:bodyPr wrap="square" lIns="0" tIns="0" rIns="0" bIns="0" rtlCol="0" anchor="ctr"/>
          <a:lstStyle/>
          <a:p>
            <a:pPr indent="0" marL="0">
              <a:buNone/>
            </a:pPr>
            <a:r>
              <a:rPr lang="en-US" sz="1350" b="1" dirty="0">
                <a:solidFill>
                  <a:srgbClr val="1B3A1C"/>
                </a:solidFill>
                <a:latin typeface="Calibri" pitchFamily="34" charset="0"/>
                <a:ea typeface="Calibri" pitchFamily="34" charset="-122"/>
                <a:cs typeface="Calibri" pitchFamily="34" charset="-120"/>
              </a:rPr>
              <a:t>Interactive dashboard</a:t>
            </a:r>
            <a:endParaRPr lang="en-US" sz="1350" dirty="0"/>
          </a:p>
        </p:txBody>
      </p:sp>
      <p:sp>
        <p:nvSpPr>
          <p:cNvPr id="23" name="Text 21"/>
          <p:cNvSpPr txBox="1"/>
          <p:nvPr/>
        </p:nvSpPr>
        <p:spPr>
          <a:xfrm>
            <a:off x="822960" y="4617720"/>
            <a:ext cx="2926080" cy="1143000"/>
          </a:xfrm>
          <a:prstGeom prst="rect">
            <a:avLst/>
          </a:prstGeom>
          <a:noFill/>
          <a:ln/>
        </p:spPr>
        <p:txBody>
          <a:bodyPr wrap="square" lIns="0" tIns="0" rIns="0" bIns="0" rtlCol="0" anchor="t"/>
          <a:lstStyle/>
          <a:p>
            <a:pPr indent="0" marL="0">
              <a:lnSpc>
                <a:spcPts val="1450"/>
              </a:lnSpc>
              <a:buNone/>
            </a:pPr>
            <a:r>
              <a:rPr lang="en-US" sz="1150" dirty="0">
                <a:solidFill>
                  <a:srgbClr val="5E6B5A"/>
                </a:solidFill>
                <a:latin typeface="Calibri" pitchFamily="34" charset="0"/>
                <a:ea typeface="Calibri" pitchFamily="34" charset="-122"/>
                <a:cs typeface="Calibri" pitchFamily="34" charset="-120"/>
              </a:rPr>
              <a:t>A Power BI or Streamlit dashboard letting a farmer filter to their own state, crop and season instead of reading a static report.</a:t>
            </a:r>
            <a:endParaRPr lang="en-US" sz="1150" dirty="0"/>
          </a:p>
        </p:txBody>
      </p:sp>
      <p:sp>
        <p:nvSpPr>
          <p:cNvPr id="24" name="Shape 22"/>
          <p:cNvSpPr/>
          <p:nvPr/>
        </p:nvSpPr>
        <p:spPr>
          <a:xfrm>
            <a:off x="4343400" y="3886200"/>
            <a:ext cx="3474720" cy="1965960"/>
          </a:xfrm>
          <a:prstGeom prst="roundRect">
            <a:avLst>
              <a:gd name="adj" fmla="val 3721"/>
            </a:avLst>
          </a:prstGeom>
          <a:solidFill>
            <a:srgbClr val="FFFFFF"/>
          </a:solidFill>
          <a:ln w="12700">
            <a:solidFill>
              <a:srgbClr val="E2E7DC"/>
            </a:solidFill>
            <a:prstDash val="solid"/>
          </a:ln>
        </p:spPr>
      </p:sp>
      <p:sp>
        <p:nvSpPr>
          <p:cNvPr id="25" name="Shape 23"/>
          <p:cNvSpPr/>
          <p:nvPr/>
        </p:nvSpPr>
        <p:spPr>
          <a:xfrm>
            <a:off x="4617720" y="4142232"/>
            <a:ext cx="365760" cy="365760"/>
          </a:xfrm>
          <a:prstGeom prst="ellipse">
            <a:avLst/>
          </a:prstGeom>
          <a:solidFill>
            <a:srgbClr val="97BC62"/>
          </a:solidFill>
          <a:ln/>
        </p:spPr>
      </p:sp>
      <p:sp>
        <p:nvSpPr>
          <p:cNvPr id="26" name="Text 24"/>
          <p:cNvSpPr txBox="1"/>
          <p:nvPr/>
        </p:nvSpPr>
        <p:spPr>
          <a:xfrm>
            <a:off x="4617720" y="4187952"/>
            <a:ext cx="365760" cy="274320"/>
          </a:xfrm>
          <a:prstGeom prst="rect">
            <a:avLst/>
          </a:prstGeom>
          <a:noFill/>
          <a:ln/>
        </p:spPr>
        <p:txBody>
          <a:bodyPr wrap="square" lIns="0" tIns="0" rIns="0" bIns="0" rtlCol="0" anchor="ctr"/>
          <a:lstStyle/>
          <a:p>
            <a:pPr algn="ctr" indent="0" marL="0">
              <a:buNone/>
            </a:pPr>
            <a:r>
              <a:rPr lang="en-US" sz="1250" b="1" dirty="0">
                <a:solidFill>
                  <a:srgbClr val="1B3A1C"/>
                </a:solidFill>
                <a:latin typeface="Calibri" pitchFamily="34" charset="0"/>
                <a:ea typeface="Calibri" pitchFamily="34" charset="-122"/>
                <a:cs typeface="Calibri" pitchFamily="34" charset="-120"/>
              </a:rPr>
              <a:t>5</a:t>
            </a:r>
            <a:endParaRPr lang="en-US" sz="1250" dirty="0"/>
          </a:p>
        </p:txBody>
      </p:sp>
      <p:sp>
        <p:nvSpPr>
          <p:cNvPr id="27" name="Text 25"/>
          <p:cNvSpPr txBox="1"/>
          <p:nvPr/>
        </p:nvSpPr>
        <p:spPr>
          <a:xfrm>
            <a:off x="5093208" y="4178808"/>
            <a:ext cx="2514600" cy="320040"/>
          </a:xfrm>
          <a:prstGeom prst="rect">
            <a:avLst/>
          </a:prstGeom>
          <a:noFill/>
          <a:ln/>
        </p:spPr>
        <p:txBody>
          <a:bodyPr wrap="square" lIns="0" tIns="0" rIns="0" bIns="0" rtlCol="0" anchor="ctr"/>
          <a:lstStyle/>
          <a:p>
            <a:pPr indent="0" marL="0">
              <a:buNone/>
            </a:pPr>
            <a:r>
              <a:rPr lang="en-US" sz="1350" b="1" dirty="0">
                <a:solidFill>
                  <a:srgbClr val="1B3A1C"/>
                </a:solidFill>
                <a:latin typeface="Calibri" pitchFamily="34" charset="0"/>
                <a:ea typeface="Calibri" pitchFamily="34" charset="-122"/>
                <a:cs typeface="Calibri" pitchFamily="34" charset="-120"/>
              </a:rPr>
              <a:t>Irrigation ROI model</a:t>
            </a:r>
            <a:endParaRPr lang="en-US" sz="1350" dirty="0"/>
          </a:p>
        </p:txBody>
      </p:sp>
      <p:sp>
        <p:nvSpPr>
          <p:cNvPr id="28" name="Text 26"/>
          <p:cNvSpPr txBox="1"/>
          <p:nvPr/>
        </p:nvSpPr>
        <p:spPr>
          <a:xfrm>
            <a:off x="4617720" y="4617720"/>
            <a:ext cx="2926080" cy="1143000"/>
          </a:xfrm>
          <a:prstGeom prst="rect">
            <a:avLst/>
          </a:prstGeom>
          <a:noFill/>
          <a:ln/>
        </p:spPr>
        <p:txBody>
          <a:bodyPr wrap="square" lIns="0" tIns="0" rIns="0" bIns="0" rtlCol="0" anchor="t"/>
          <a:lstStyle/>
          <a:p>
            <a:pPr indent="0" marL="0">
              <a:lnSpc>
                <a:spcPts val="1450"/>
              </a:lnSpc>
              <a:buNone/>
            </a:pPr>
            <a:r>
              <a:rPr lang="en-US" sz="1150" dirty="0">
                <a:solidFill>
                  <a:srgbClr val="5E6B5A"/>
                </a:solidFill>
                <a:latin typeface="Calibri" pitchFamily="34" charset="0"/>
                <a:ea typeface="Calibri" pitchFamily="34" charset="-122"/>
                <a:cs typeface="Calibri" pitchFamily="34" charset="-120"/>
              </a:rPr>
              <a:t>Cost the switch from Flood to Drip against the ₹19,000/ha Zaid gap to compute a real payback period.</a:t>
            </a:r>
            <a:endParaRPr lang="en-US" sz="1150" dirty="0"/>
          </a:p>
        </p:txBody>
      </p:sp>
      <p:sp>
        <p:nvSpPr>
          <p:cNvPr id="29" name="Shape 27"/>
          <p:cNvSpPr/>
          <p:nvPr/>
        </p:nvSpPr>
        <p:spPr>
          <a:xfrm>
            <a:off x="8138160" y="3886200"/>
            <a:ext cx="3474720" cy="1965960"/>
          </a:xfrm>
          <a:prstGeom prst="roundRect">
            <a:avLst>
              <a:gd name="adj" fmla="val 3721"/>
            </a:avLst>
          </a:prstGeom>
          <a:solidFill>
            <a:srgbClr val="FFFFFF"/>
          </a:solidFill>
          <a:ln w="12700">
            <a:solidFill>
              <a:srgbClr val="E2E7DC"/>
            </a:solidFill>
            <a:prstDash val="solid"/>
          </a:ln>
        </p:spPr>
      </p:sp>
      <p:sp>
        <p:nvSpPr>
          <p:cNvPr id="30" name="Shape 28"/>
          <p:cNvSpPr/>
          <p:nvPr/>
        </p:nvSpPr>
        <p:spPr>
          <a:xfrm>
            <a:off x="8412480" y="4142232"/>
            <a:ext cx="365760" cy="365760"/>
          </a:xfrm>
          <a:prstGeom prst="ellipse">
            <a:avLst/>
          </a:prstGeom>
          <a:solidFill>
            <a:srgbClr val="97BC62"/>
          </a:solidFill>
          <a:ln/>
        </p:spPr>
      </p:sp>
      <p:sp>
        <p:nvSpPr>
          <p:cNvPr id="31" name="Text 29"/>
          <p:cNvSpPr txBox="1"/>
          <p:nvPr/>
        </p:nvSpPr>
        <p:spPr>
          <a:xfrm>
            <a:off x="8412480" y="4187952"/>
            <a:ext cx="365760" cy="274320"/>
          </a:xfrm>
          <a:prstGeom prst="rect">
            <a:avLst/>
          </a:prstGeom>
          <a:noFill/>
          <a:ln/>
        </p:spPr>
        <p:txBody>
          <a:bodyPr wrap="square" lIns="0" tIns="0" rIns="0" bIns="0" rtlCol="0" anchor="ctr"/>
          <a:lstStyle/>
          <a:p>
            <a:pPr algn="ctr" indent="0" marL="0">
              <a:buNone/>
            </a:pPr>
            <a:r>
              <a:rPr lang="en-US" sz="1250" b="1" dirty="0">
                <a:solidFill>
                  <a:srgbClr val="1B3A1C"/>
                </a:solidFill>
                <a:latin typeface="Calibri" pitchFamily="34" charset="0"/>
                <a:ea typeface="Calibri" pitchFamily="34" charset="-122"/>
                <a:cs typeface="Calibri" pitchFamily="34" charset="-120"/>
              </a:rPr>
              <a:t>6</a:t>
            </a:r>
            <a:endParaRPr lang="en-US" sz="1250" dirty="0"/>
          </a:p>
        </p:txBody>
      </p:sp>
      <p:sp>
        <p:nvSpPr>
          <p:cNvPr id="32" name="Text 30"/>
          <p:cNvSpPr txBox="1"/>
          <p:nvPr/>
        </p:nvSpPr>
        <p:spPr>
          <a:xfrm>
            <a:off x="8887968" y="4178808"/>
            <a:ext cx="2514600" cy="320040"/>
          </a:xfrm>
          <a:prstGeom prst="rect">
            <a:avLst/>
          </a:prstGeom>
          <a:noFill/>
          <a:ln/>
        </p:spPr>
        <p:txBody>
          <a:bodyPr wrap="square" lIns="0" tIns="0" rIns="0" bIns="0" rtlCol="0" anchor="ctr"/>
          <a:lstStyle/>
          <a:p>
            <a:pPr indent="0" marL="0">
              <a:buNone/>
            </a:pPr>
            <a:r>
              <a:rPr lang="en-US" sz="1350" b="1" dirty="0">
                <a:solidFill>
                  <a:srgbClr val="1B3A1C"/>
                </a:solidFill>
                <a:latin typeface="Calibri" pitchFamily="34" charset="0"/>
                <a:ea typeface="Calibri" pitchFamily="34" charset="-122"/>
                <a:cs typeface="Calibri" pitchFamily="34" charset="-120"/>
              </a:rPr>
              <a:t>Satellite &amp; soil sensors</a:t>
            </a:r>
            <a:endParaRPr lang="en-US" sz="1350" dirty="0"/>
          </a:p>
        </p:txBody>
      </p:sp>
      <p:sp>
        <p:nvSpPr>
          <p:cNvPr id="33" name="Text 31"/>
          <p:cNvSpPr txBox="1"/>
          <p:nvPr/>
        </p:nvSpPr>
        <p:spPr>
          <a:xfrm>
            <a:off x="8412480" y="4617720"/>
            <a:ext cx="2926080" cy="1143000"/>
          </a:xfrm>
          <a:prstGeom prst="rect">
            <a:avLst/>
          </a:prstGeom>
          <a:noFill/>
          <a:ln/>
        </p:spPr>
        <p:txBody>
          <a:bodyPr wrap="square" lIns="0" tIns="0" rIns="0" bIns="0" rtlCol="0" anchor="t"/>
          <a:lstStyle/>
          <a:p>
            <a:pPr indent="0" marL="0">
              <a:lnSpc>
                <a:spcPts val="1450"/>
              </a:lnSpc>
              <a:buNone/>
            </a:pPr>
            <a:r>
              <a:rPr lang="en-US" sz="1150" dirty="0">
                <a:solidFill>
                  <a:srgbClr val="5E6B5A"/>
                </a:solidFill>
                <a:latin typeface="Calibri" pitchFamily="34" charset="0"/>
                <a:ea typeface="Calibri" pitchFamily="34" charset="-122"/>
                <a:cs typeface="Calibri" pitchFamily="34" charset="-120"/>
              </a:rPr>
              <a:t>Add remote-sensing and IoT soil data for field-level rather than farm-level seasonal recommendations.</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9260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PROJECT REPOSITORY</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200" b="1" dirty="0">
                <a:solidFill>
                  <a:srgbClr val="1B3A1C"/>
                </a:solidFill>
                <a:latin typeface="Cambria" pitchFamily="34" charset="0"/>
                <a:ea typeface="Cambria" pitchFamily="34" charset="-122"/>
                <a:cs typeface="Cambria" pitchFamily="34" charset="-120"/>
              </a:rPr>
              <a:t>GitHub Link</a:t>
            </a:r>
            <a:endParaRPr lang="en-US" sz="3200" dirty="0"/>
          </a:p>
        </p:txBody>
      </p:sp>
      <p:sp>
        <p:nvSpPr>
          <p:cNvPr id="4" name="Shape 2"/>
          <p:cNvSpPr/>
          <p:nvPr/>
        </p:nvSpPr>
        <p:spPr>
          <a:xfrm>
            <a:off x="548640" y="1600200"/>
            <a:ext cx="11155680" cy="1234440"/>
          </a:xfrm>
          <a:prstGeom prst="roundRect">
            <a:avLst>
              <a:gd name="adj" fmla="val 5926"/>
            </a:avLst>
          </a:prstGeom>
          <a:solidFill>
            <a:srgbClr val="1B3A1C"/>
          </a:solidFill>
          <a:ln/>
        </p:spPr>
      </p:sp>
      <p:sp>
        <p:nvSpPr>
          <p:cNvPr id="5" name="Text 3"/>
          <p:cNvSpPr txBox="1"/>
          <p:nvPr/>
        </p:nvSpPr>
        <p:spPr>
          <a:xfrm>
            <a:off x="914400" y="1810512"/>
            <a:ext cx="4572000" cy="256032"/>
          </a:xfrm>
          <a:prstGeom prst="rect">
            <a:avLst/>
          </a:prstGeom>
          <a:noFill/>
          <a:ln/>
        </p:spPr>
        <p:txBody>
          <a:bodyPr wrap="square" lIns="0" tIns="0" rIns="0" bIns="0" rtlCol="0" anchor="ctr"/>
          <a:lstStyle/>
          <a:p>
            <a:pPr indent="0" marL="0">
              <a:buNone/>
            </a:pPr>
            <a:r>
              <a:rPr lang="en-US" sz="1100" b="1" spc="150" kern="0" dirty="0">
                <a:solidFill>
                  <a:srgbClr val="97BC62"/>
                </a:solidFill>
                <a:latin typeface="Calibri" pitchFamily="34" charset="0"/>
                <a:ea typeface="Calibri" pitchFamily="34" charset="-122"/>
                <a:cs typeface="Calibri" pitchFamily="34" charset="-120"/>
              </a:rPr>
              <a:t>Repository</a:t>
            </a:r>
            <a:endParaRPr lang="en-US" sz="1100" dirty="0"/>
          </a:p>
        </p:txBody>
      </p:sp>
      <p:sp>
        <p:nvSpPr>
          <p:cNvPr id="6" name="Text 4"/>
          <p:cNvSpPr txBox="1"/>
          <p:nvPr/>
        </p:nvSpPr>
        <p:spPr>
          <a:xfrm>
            <a:off x="914400" y="2121408"/>
            <a:ext cx="1042416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https://github.com/AswiniKumar55/-Seasonal-Agriculture-Performance-Analysis-.git</a:t>
            </a:r>
            <a:endParaRPr lang="en-US" sz="1600" dirty="0"/>
          </a:p>
        </p:txBody>
      </p:sp>
      <p:sp>
        <p:nvSpPr>
          <p:cNvPr id="7" name="Text 5"/>
          <p:cNvSpPr txBox="1"/>
          <p:nvPr/>
        </p:nvSpPr>
        <p:spPr>
          <a:xfrm>
            <a:off x="548640" y="3154680"/>
            <a:ext cx="5486400" cy="256032"/>
          </a:xfrm>
          <a:prstGeom prst="rect">
            <a:avLst/>
          </a:prstGeom>
          <a:noFill/>
          <a:ln/>
        </p:spPr>
        <p:txBody>
          <a:bodyPr wrap="square" lIns="0" tIns="0" rIns="0" bIns="0" rtlCol="0" anchor="ctr"/>
          <a:lstStyle/>
          <a:p>
            <a:pPr indent="0" marL="0">
              <a:buNone/>
            </a:pPr>
            <a:r>
              <a:rPr lang="en-US" sz="1100" b="1" spc="150" kern="0" dirty="0">
                <a:solidFill>
                  <a:srgbClr val="2C5F2D"/>
                </a:solidFill>
                <a:latin typeface="Calibri" pitchFamily="34" charset="0"/>
                <a:ea typeface="Calibri" pitchFamily="34" charset="-122"/>
                <a:cs typeface="Calibri" pitchFamily="34" charset="-120"/>
              </a:rPr>
              <a:t>REPOSITORY CONTENTS</a:t>
            </a:r>
            <a:endParaRPr lang="en-US" sz="1100" dirty="0"/>
          </a:p>
        </p:txBody>
      </p:sp>
      <p:sp>
        <p:nvSpPr>
          <p:cNvPr id="8" name="Shape 6"/>
          <p:cNvSpPr/>
          <p:nvPr/>
        </p:nvSpPr>
        <p:spPr>
          <a:xfrm>
            <a:off x="548640" y="3520440"/>
            <a:ext cx="11155680" cy="731520"/>
          </a:xfrm>
          <a:prstGeom prst="roundRect">
            <a:avLst>
              <a:gd name="adj" fmla="val 7500"/>
            </a:avLst>
          </a:prstGeom>
          <a:solidFill>
            <a:srgbClr val="F4F6F0"/>
          </a:solidFill>
          <a:ln w="12700">
            <a:solidFill>
              <a:srgbClr val="E2E7DC"/>
            </a:solidFill>
            <a:prstDash val="solid"/>
          </a:ln>
        </p:spPr>
      </p:sp>
      <p:sp>
        <p:nvSpPr>
          <p:cNvPr id="9" name="Text 7"/>
          <p:cNvSpPr txBox="1"/>
          <p:nvPr/>
        </p:nvSpPr>
        <p:spPr>
          <a:xfrm>
            <a:off x="868680" y="3621024"/>
            <a:ext cx="4572000" cy="274320"/>
          </a:xfrm>
          <a:prstGeom prst="rect">
            <a:avLst/>
          </a:prstGeom>
          <a:noFill/>
          <a:ln/>
        </p:spPr>
        <p:txBody>
          <a:bodyPr wrap="square" lIns="0" tIns="0" rIns="0" bIns="0" rtlCol="0" anchor="ctr"/>
          <a:lstStyle/>
          <a:p>
            <a:pPr indent="0" marL="0">
              <a:buNone/>
            </a:pPr>
            <a:r>
              <a:rPr lang="en-US" sz="1150" b="1" dirty="0">
                <a:solidFill>
                  <a:srgbClr val="2C5F2D"/>
                </a:solidFill>
                <a:latin typeface="Courier New" pitchFamily="34" charset="0"/>
                <a:ea typeface="Courier New" pitchFamily="34" charset="-122"/>
                <a:cs typeface="Courier New" pitchFamily="34" charset="-120"/>
              </a:rPr>
              <a:t>Seasonal_Agriculture_Performance_Analysis.ipynb</a:t>
            </a:r>
            <a:endParaRPr lang="en-US" sz="1150" dirty="0"/>
          </a:p>
        </p:txBody>
      </p:sp>
      <p:sp>
        <p:nvSpPr>
          <p:cNvPr id="10" name="Text 8"/>
          <p:cNvSpPr txBox="1"/>
          <p:nvPr/>
        </p:nvSpPr>
        <p:spPr>
          <a:xfrm>
            <a:off x="868680" y="3904488"/>
            <a:ext cx="10332720" cy="274320"/>
          </a:xfrm>
          <a:prstGeom prst="rect">
            <a:avLst/>
          </a:prstGeom>
          <a:noFill/>
          <a:ln/>
        </p:spPr>
        <p:txBody>
          <a:bodyPr wrap="square" lIns="0" tIns="0" rIns="0" bIns="0" rtlCol="0" anchor="ctr"/>
          <a:lstStyle/>
          <a:p>
            <a:pPr indent="0" marL="0">
              <a:buNone/>
            </a:pPr>
            <a:r>
              <a:rPr lang="en-US" sz="1150" dirty="0">
                <a:solidFill>
                  <a:srgbClr val="5E6B5A"/>
                </a:solidFill>
                <a:latin typeface="Calibri" pitchFamily="34" charset="0"/>
                <a:ea typeface="Calibri" pitchFamily="34" charset="-122"/>
                <a:cs typeface="Calibri" pitchFamily="34" charset="-120"/>
              </a:rPr>
              <a:t>Complete analysis notebook — cleaning, statistical testing, all 10 visualisations and written interpretation.</a:t>
            </a:r>
            <a:endParaRPr lang="en-US" sz="1150" dirty="0"/>
          </a:p>
        </p:txBody>
      </p:sp>
      <p:sp>
        <p:nvSpPr>
          <p:cNvPr id="11" name="Shape 9"/>
          <p:cNvSpPr/>
          <p:nvPr/>
        </p:nvSpPr>
        <p:spPr>
          <a:xfrm>
            <a:off x="548640" y="4389120"/>
            <a:ext cx="11155680" cy="731520"/>
          </a:xfrm>
          <a:prstGeom prst="roundRect">
            <a:avLst>
              <a:gd name="adj" fmla="val 7500"/>
            </a:avLst>
          </a:prstGeom>
          <a:solidFill>
            <a:srgbClr val="F4F6F0"/>
          </a:solidFill>
          <a:ln w="12700">
            <a:solidFill>
              <a:srgbClr val="E2E7DC"/>
            </a:solidFill>
            <a:prstDash val="solid"/>
          </a:ln>
        </p:spPr>
      </p:sp>
      <p:sp>
        <p:nvSpPr>
          <p:cNvPr id="12" name="Text 10"/>
          <p:cNvSpPr txBox="1"/>
          <p:nvPr/>
        </p:nvSpPr>
        <p:spPr>
          <a:xfrm>
            <a:off x="868680" y="4489704"/>
            <a:ext cx="4572000" cy="274320"/>
          </a:xfrm>
          <a:prstGeom prst="rect">
            <a:avLst/>
          </a:prstGeom>
          <a:noFill/>
          <a:ln/>
        </p:spPr>
        <p:txBody>
          <a:bodyPr wrap="square" lIns="0" tIns="0" rIns="0" bIns="0" rtlCol="0" anchor="ctr"/>
          <a:lstStyle/>
          <a:p>
            <a:pPr indent="0" marL="0">
              <a:buNone/>
            </a:pPr>
            <a:r>
              <a:rPr lang="en-US" sz="1150" b="1" dirty="0">
                <a:solidFill>
                  <a:srgbClr val="2C5F2D"/>
                </a:solidFill>
                <a:latin typeface="Courier New" pitchFamily="34" charset="0"/>
                <a:ea typeface="Courier New" pitchFamily="34" charset="-122"/>
                <a:cs typeface="Courier New" pitchFamily="34" charset="-120"/>
              </a:rPr>
              <a:t>agriculture_dataset.csv</a:t>
            </a:r>
            <a:endParaRPr lang="en-US" sz="1150" dirty="0"/>
          </a:p>
        </p:txBody>
      </p:sp>
      <p:sp>
        <p:nvSpPr>
          <p:cNvPr id="13" name="Text 11"/>
          <p:cNvSpPr txBox="1"/>
          <p:nvPr/>
        </p:nvSpPr>
        <p:spPr>
          <a:xfrm>
            <a:off x="868680" y="4773168"/>
            <a:ext cx="10332720" cy="274320"/>
          </a:xfrm>
          <a:prstGeom prst="rect">
            <a:avLst/>
          </a:prstGeom>
          <a:noFill/>
          <a:ln/>
        </p:spPr>
        <p:txBody>
          <a:bodyPr wrap="square" lIns="0" tIns="0" rIns="0" bIns="0" rtlCol="0" anchor="ctr"/>
          <a:lstStyle/>
          <a:p>
            <a:pPr indent="0" marL="0">
              <a:buNone/>
            </a:pPr>
            <a:r>
              <a:rPr lang="en-US" sz="1150" dirty="0">
                <a:solidFill>
                  <a:srgbClr val="5E6B5A"/>
                </a:solidFill>
                <a:latin typeface="Calibri" pitchFamily="34" charset="0"/>
                <a:ea typeface="Calibri" pitchFamily="34" charset="-122"/>
                <a:cs typeface="Calibri" pitchFamily="34" charset="-120"/>
              </a:rPr>
              <a:t>The cleaned 4,000-row, 28-column dataset used throughout the analysis.</a:t>
            </a:r>
            <a:endParaRPr lang="en-US" sz="1150" dirty="0"/>
          </a:p>
        </p:txBody>
      </p:sp>
      <p:sp>
        <p:nvSpPr>
          <p:cNvPr id="14" name="Shape 12"/>
          <p:cNvSpPr/>
          <p:nvPr/>
        </p:nvSpPr>
        <p:spPr>
          <a:xfrm>
            <a:off x="548640" y="5257800"/>
            <a:ext cx="11155680" cy="731520"/>
          </a:xfrm>
          <a:prstGeom prst="roundRect">
            <a:avLst>
              <a:gd name="adj" fmla="val 7500"/>
            </a:avLst>
          </a:prstGeom>
          <a:solidFill>
            <a:srgbClr val="F4F6F0"/>
          </a:solidFill>
          <a:ln w="12700">
            <a:solidFill>
              <a:srgbClr val="E2E7DC"/>
            </a:solidFill>
            <a:prstDash val="solid"/>
          </a:ln>
        </p:spPr>
      </p:sp>
      <p:sp>
        <p:nvSpPr>
          <p:cNvPr id="15" name="Text 13"/>
          <p:cNvSpPr txBox="1"/>
          <p:nvPr/>
        </p:nvSpPr>
        <p:spPr>
          <a:xfrm>
            <a:off x="868680" y="5358384"/>
            <a:ext cx="4572000" cy="274320"/>
          </a:xfrm>
          <a:prstGeom prst="rect">
            <a:avLst/>
          </a:prstGeom>
          <a:noFill/>
          <a:ln/>
        </p:spPr>
        <p:txBody>
          <a:bodyPr wrap="square" lIns="0" tIns="0" rIns="0" bIns="0" rtlCol="0" anchor="ctr"/>
          <a:lstStyle/>
          <a:p>
            <a:pPr indent="0" marL="0">
              <a:buNone/>
            </a:pPr>
            <a:r>
              <a:rPr lang="en-US" sz="1150" b="1" dirty="0">
                <a:solidFill>
                  <a:srgbClr val="2C5F2D"/>
                </a:solidFill>
                <a:latin typeface="Courier New" pitchFamily="34" charset="0"/>
                <a:ea typeface="Courier New" pitchFamily="34" charset="-122"/>
                <a:cs typeface="Courier New" pitchFamily="34" charset="-120"/>
              </a:rPr>
              <a:t>README.md</a:t>
            </a:r>
            <a:endParaRPr lang="en-US" sz="1150" dirty="0"/>
          </a:p>
        </p:txBody>
      </p:sp>
      <p:sp>
        <p:nvSpPr>
          <p:cNvPr id="16" name="Text 14"/>
          <p:cNvSpPr txBox="1"/>
          <p:nvPr/>
        </p:nvSpPr>
        <p:spPr>
          <a:xfrm>
            <a:off x="868680" y="5641848"/>
            <a:ext cx="10332720" cy="274320"/>
          </a:xfrm>
          <a:prstGeom prst="rect">
            <a:avLst/>
          </a:prstGeom>
          <a:noFill/>
          <a:ln/>
        </p:spPr>
        <p:txBody>
          <a:bodyPr wrap="square" lIns="0" tIns="0" rIns="0" bIns="0" rtlCol="0" anchor="ctr"/>
          <a:lstStyle/>
          <a:p>
            <a:pPr indent="0" marL="0">
              <a:buNone/>
            </a:pPr>
            <a:r>
              <a:rPr lang="en-US" sz="1150" dirty="0">
                <a:solidFill>
                  <a:srgbClr val="5E6B5A"/>
                </a:solidFill>
                <a:latin typeface="Calibri" pitchFamily="34" charset="0"/>
                <a:ea typeface="Calibri" pitchFamily="34" charset="-122"/>
                <a:cs typeface="Calibri" pitchFamily="34" charset="-120"/>
              </a:rPr>
              <a:t>Project overview, method summary and instructions to reproduce the results.</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9260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COURSE · DATA VISUALIZATION</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200" b="1" dirty="0">
                <a:solidFill>
                  <a:srgbClr val="1B3A1C"/>
                </a:solidFill>
                <a:latin typeface="Cambria" pitchFamily="34" charset="0"/>
                <a:ea typeface="Cambria" pitchFamily="34" charset="-122"/>
                <a:cs typeface="Cambria" pitchFamily="34" charset="-120"/>
              </a:rPr>
              <a:t>VOIS Course Completion Certificate</a:t>
            </a:r>
            <a:endParaRPr lang="en-US" sz="3200" dirty="0"/>
          </a:p>
        </p:txBody>
      </p:sp>
      <p:sp>
        <p:nvSpPr>
          <p:cNvPr id="4" name="Shape 2"/>
          <p:cNvSpPr/>
          <p:nvPr/>
        </p:nvSpPr>
        <p:spPr>
          <a:xfrm>
            <a:off x="2194560" y="1737360"/>
            <a:ext cx="7772400" cy="3931920"/>
          </a:xfrm>
          <a:prstGeom prst="roundRect">
            <a:avLst>
              <a:gd name="adj" fmla="val 1860"/>
            </a:avLst>
          </a:prstGeom>
          <a:solidFill>
            <a:srgbClr val="F4F6F0"/>
          </a:solidFill>
          <a:ln w="19050">
            <a:solidFill>
              <a:srgbClr val="97BC62"/>
            </a:solidFill>
            <a:prstDash val="dash"/>
          </a:ln>
        </p:spPr>
      </p:sp>
      <p:sp>
        <p:nvSpPr>
          <p:cNvPr id="5" name="Text 3"/>
          <p:cNvSpPr txBox="1"/>
          <p:nvPr/>
        </p:nvSpPr>
        <p:spPr>
          <a:xfrm>
            <a:off x="2743200" y="3246120"/>
            <a:ext cx="6675120" cy="914400"/>
          </a:xfrm>
          <a:prstGeom prst="rect">
            <a:avLst/>
          </a:prstGeom>
          <a:noFill/>
          <a:ln/>
        </p:spPr>
        <p:txBody>
          <a:bodyPr wrap="square" lIns="0" tIns="0" rIns="0" bIns="0" rtlCol="0" anchor="ctr"/>
          <a:lstStyle/>
          <a:p>
            <a:pPr algn="ctr" indent="0" marL="0">
              <a:lnSpc>
                <a:spcPts val="2200"/>
              </a:lnSpc>
              <a:buNone/>
            </a:pPr>
            <a:r>
              <a:rPr lang="en-US" sz="1500" dirty="0">
                <a:solidFill>
                  <a:srgbClr val="5E6B5A"/>
                </a:solidFill>
                <a:latin typeface="Calibri" pitchFamily="34" charset="0"/>
                <a:ea typeface="Calibri" pitchFamily="34" charset="-122"/>
                <a:cs typeface="Calibri" pitchFamily="34" charset="-120"/>
              </a:rPr>
              <a:t>Insert your VOIS Data Visualization</a:t>
            </a:r>
            <a:endParaRPr lang="en-US" sz="1500" dirty="0"/>
          </a:p>
          <a:p>
            <a:pPr algn="ctr" indent="0" marL="0">
              <a:lnSpc>
                <a:spcPts val="2200"/>
              </a:lnSpc>
              <a:buNone/>
            </a:pPr>
            <a:r>
              <a:rPr lang="en-US" sz="1500" dirty="0">
                <a:solidFill>
                  <a:srgbClr val="5E6B5A"/>
                </a:solidFill>
                <a:latin typeface="Calibri" pitchFamily="34" charset="0"/>
                <a:ea typeface="Calibri" pitchFamily="34" charset="-122"/>
                <a:cs typeface="Calibri" pitchFamily="34" charset="-120"/>
              </a:rPr>
              <a:t>completion certificate image here</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3A1C"/>
        </a:solidFill>
      </p:bgPr>
    </p:bg>
    <p:spTree>
      <p:nvGrpSpPr>
        <p:cNvPr id="1" name=""/>
        <p:cNvGrpSpPr/>
        <p:nvPr/>
      </p:nvGrpSpPr>
      <p:grpSpPr>
        <a:xfrm>
          <a:off x="0" y="0"/>
          <a:ext cx="0" cy="0"/>
          <a:chOff x="0" y="0"/>
          <a:chExt cx="0" cy="0"/>
        </a:xfrm>
      </p:grpSpPr>
      <p:sp>
        <p:nvSpPr>
          <p:cNvPr id="2" name="Text 0"/>
          <p:cNvSpPr txBox="1"/>
          <p:nvPr/>
        </p:nvSpPr>
        <p:spPr>
          <a:xfrm>
            <a:off x="868680" y="2331720"/>
            <a:ext cx="100584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3" name="Text 1"/>
          <p:cNvSpPr txBox="1"/>
          <p:nvPr/>
        </p:nvSpPr>
        <p:spPr>
          <a:xfrm>
            <a:off x="868680" y="3401568"/>
            <a:ext cx="7315200" cy="365760"/>
          </a:xfrm>
          <a:prstGeom prst="rect">
            <a:avLst/>
          </a:prstGeom>
          <a:noFill/>
          <a:ln/>
        </p:spPr>
        <p:txBody>
          <a:bodyPr wrap="square" lIns="0" tIns="0" rIns="0" bIns="0" rtlCol="0" anchor="ctr"/>
          <a:lstStyle/>
          <a:p>
            <a:pPr indent="0" marL="0">
              <a:buNone/>
            </a:pPr>
            <a:r>
              <a:rPr lang="en-US" sz="1600" dirty="0">
                <a:solidFill>
                  <a:srgbClr val="AEC0A6"/>
                </a:solidFill>
                <a:latin typeface="Calibri" pitchFamily="34" charset="0"/>
                <a:ea typeface="Calibri" pitchFamily="34" charset="-122"/>
                <a:cs typeface="Calibri" pitchFamily="34" charset="-120"/>
              </a:rPr>
              <a:t>Questions are welcome.</a:t>
            </a:r>
            <a:endParaRPr lang="en-US" sz="1600" dirty="0"/>
          </a:p>
        </p:txBody>
      </p:sp>
      <p:sp>
        <p:nvSpPr>
          <p:cNvPr id="4" name="Shape 2"/>
          <p:cNvSpPr/>
          <p:nvPr/>
        </p:nvSpPr>
        <p:spPr>
          <a:xfrm>
            <a:off x="868680" y="4114800"/>
            <a:ext cx="2926080" cy="0"/>
          </a:xfrm>
          <a:prstGeom prst="line">
            <a:avLst/>
          </a:prstGeom>
          <a:noFill/>
          <a:ln w="25400">
            <a:solidFill>
              <a:srgbClr val="97BC62"/>
            </a:solidFill>
            <a:prstDash val="solid"/>
          </a:ln>
        </p:spPr>
      </p:sp>
      <p:sp>
        <p:nvSpPr>
          <p:cNvPr id="5" name="Text 3"/>
          <p:cNvSpPr txBox="1"/>
          <p:nvPr/>
        </p:nvSpPr>
        <p:spPr>
          <a:xfrm>
            <a:off x="868680" y="4389120"/>
            <a:ext cx="8229600" cy="1097280"/>
          </a:xfrm>
          <a:prstGeom prst="rect">
            <a:avLst/>
          </a:prstGeom>
          <a:noFill/>
          <a:ln/>
        </p:spPr>
        <p:txBody>
          <a:bodyPr wrap="square" lIns="0" tIns="0" rIns="0" bIns="0" rtlCol="0" anchor="ctr"/>
          <a:lstStyle/>
          <a:p>
            <a:pPr indent="0" marL="0">
              <a:lnSpc>
                <a:spcPts val="2100"/>
              </a:lnSpc>
              <a:buNone/>
            </a:pPr>
            <a:r>
              <a:rPr lang="en-US" sz="1600" b="1" dirty="0">
                <a:solidFill>
                  <a:srgbClr val="FFFFFF"/>
                </a:solidFill>
                <a:latin typeface="Calibri" pitchFamily="34" charset="0"/>
                <a:ea typeface="Calibri" pitchFamily="34" charset="-122"/>
                <a:cs typeface="Calibri" pitchFamily="34" charset="-120"/>
              </a:rPr>
              <a:t>Pulkit Chopra</a:t>
            </a:r>
            <a:endParaRPr lang="en-US" sz="1600" dirty="0"/>
          </a:p>
          <a:p>
            <a:pPr indent="0" marL="0">
              <a:lnSpc>
                <a:spcPts val="2100"/>
              </a:lnSpc>
              <a:buNone/>
            </a:pPr>
            <a:r>
              <a:rPr lang="en-US" sz="1300" dirty="0">
                <a:solidFill>
                  <a:srgbClr val="AEC0A6"/>
                </a:solidFill>
                <a:latin typeface="Calibri" pitchFamily="34" charset="0"/>
                <a:ea typeface="Calibri" pitchFamily="34" charset="-122"/>
                <a:cs typeface="Calibri" pitchFamily="34" charset="-120"/>
              </a:rPr>
              <a:t>Maharaja Agrasen Institute of Management Studies</a:t>
            </a:r>
            <a:endParaRPr lang="en-US" sz="1600" dirty="0"/>
          </a:p>
          <a:p>
            <a:pPr indent="0" marL="0">
              <a:lnSpc>
                <a:spcPts val="2100"/>
              </a:lnSpc>
              <a:buNone/>
            </a:pPr>
            <a:r>
              <a:rPr lang="en-US" sz="1300" dirty="0">
                <a:solidFill>
                  <a:srgbClr val="AEC0A6"/>
                </a:solidFill>
                <a:latin typeface="Calibri" pitchFamily="34" charset="0"/>
                <a:ea typeface="Calibri" pitchFamily="34" charset="-122"/>
                <a:cs typeface="Calibri" pitchFamily="34" charset="-120"/>
              </a:rPr>
              <a:t>AICTE Student ID:  STU6a0fa9ea7ddf11779411434</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2026-09-04T05:49:06Z</dcterms:created>
  <dcterms:modified xsi:type="dcterms:W3CDTF">2026-09-04T05:49:06Z</dcterms:modified>
</cp:coreProperties>
</file>